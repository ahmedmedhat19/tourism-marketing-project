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20_3DE3FB4F.xml" ContentType="application/vnd.ms-powerpoint.comment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20"/>
  </p:notesMasterIdLst>
  <p:handoutMasterIdLst>
    <p:handoutMasterId r:id="rId21"/>
  </p:handoutMasterIdLst>
  <p:sldIdLst>
    <p:sldId id="290" r:id="rId5"/>
    <p:sldId id="288" r:id="rId6"/>
    <p:sldId id="266" r:id="rId7"/>
    <p:sldId id="320" r:id="rId8"/>
    <p:sldId id="303" r:id="rId9"/>
    <p:sldId id="302" r:id="rId10"/>
    <p:sldId id="319" r:id="rId11"/>
    <p:sldId id="312" r:id="rId12"/>
    <p:sldId id="321" r:id="rId13"/>
    <p:sldId id="309" r:id="rId14"/>
    <p:sldId id="308" r:id="rId15"/>
    <p:sldId id="306" r:id="rId16"/>
    <p:sldId id="307" r:id="rId17"/>
    <p:sldId id="313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" userDrawn="1">
          <p15:clr>
            <a:srgbClr val="A4A3A4"/>
          </p15:clr>
        </p15:guide>
        <p15:guide id="2" pos="5976" userDrawn="1">
          <p15:clr>
            <a:srgbClr val="A4A3A4"/>
          </p15:clr>
        </p15:guide>
        <p15:guide id="3" orient="horz" pos="3792" userDrawn="1">
          <p15:clr>
            <a:srgbClr val="A4A3A4"/>
          </p15:clr>
        </p15:guide>
        <p15:guide id="4" pos="46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0BF5B6B2-E4FD-2851-24C9-68053A9F70E4}" name="Nour Allah Ahmed" initials="NA" userId="5d9d43d8b2c3ffe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59400A"/>
    <a:srgbClr val="B98615"/>
    <a:srgbClr val="1F1603"/>
    <a:srgbClr val="0C53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48605-57FE-828D-D949-5003A550D68F}" v="5" dt="2025-12-13T19:03:00.409"/>
    <p1510:client id="{66FB1D07-A8E2-457D-B33F-516ACE729BDB}" v="440" dt="2025-12-13T20:21:05.37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73" y="342"/>
      </p:cViewPr>
      <p:guideLst>
        <p:guide orient="horz" pos="1368"/>
        <p:guide pos="5976"/>
        <p:guide orient="horz" pos="3792"/>
        <p:guide pos="46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omments/modernComment_120_3DE3FB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F836BE-EB43-4310-919A-8104E9BF7459}" authorId="{0BF5B6B2-E4FD-2851-24C9-68053A9F70E4}" created="2025-12-07T17:49:08.581">
    <pc:sldMkLst xmlns:pc="http://schemas.microsoft.com/office/powerpoint/2013/main/command">
      <pc:docMk/>
      <pc:sldMk cId="1038351183" sldId="288"/>
    </pc:sldMkLst>
    <p188:txBody>
      <a:bodyPr/>
      <a:lstStyle/>
      <a:p>
        <a:r>
          <a:rPr lang="en-US"/>
          <a:t>Noor elhouda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94F266-0380-4313-81F0-6CE24883E42A}" type="doc">
      <dgm:prSet loTypeId="urn:microsoft.com/office/officeart/2008/layout/VerticalCurvedList" loCatId="list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29B7552-103F-4CAC-AF98-EE92D4E4DF6B}">
      <dgm:prSet phldrT="[Text]"/>
      <dgm:spPr/>
      <dgm:t>
        <a:bodyPr/>
        <a:lstStyle/>
        <a:p>
          <a:r>
            <a:rPr lang="en-US" dirty="0"/>
            <a:t>- IR.T connects the past with the present through immersive audio storytelling.
- We aim to make Egyptian heritage accessible, engaging, and enjoyable for everyone.
- Our long-term goal: expand nationwide and become a leading tourism-tech brand.</a:t>
          </a:r>
        </a:p>
      </dgm:t>
    </dgm:pt>
    <dgm:pt modelId="{EDEFDDAD-D517-4B7F-A458-F19D8B37CE72}" type="parTrans" cxnId="{1D7C53DA-C7DC-467F-9682-348D13592070}">
      <dgm:prSet/>
      <dgm:spPr/>
      <dgm:t>
        <a:bodyPr/>
        <a:lstStyle/>
        <a:p>
          <a:endParaRPr lang="en-US"/>
        </a:p>
      </dgm:t>
    </dgm:pt>
    <dgm:pt modelId="{93BE8EF4-777C-4B06-8996-341C054E30EE}" type="sibTrans" cxnId="{1D7C53DA-C7DC-467F-9682-348D13592070}">
      <dgm:prSet/>
      <dgm:spPr/>
      <dgm:t>
        <a:bodyPr/>
        <a:lstStyle/>
        <a:p>
          <a:endParaRPr lang="en-US"/>
        </a:p>
      </dgm:t>
    </dgm:pt>
    <dgm:pt modelId="{507FC279-53BF-412C-B562-9765D1120C05}">
      <dgm:prSet phldrT="[Text]"/>
      <dgm:spPr/>
      <dgm:t>
        <a:bodyPr/>
        <a:lstStyle/>
        <a:p>
          <a:r>
            <a:rPr lang="en-US" dirty="0"/>
            <a:t>- Offer smart audio-guide headsets for museums and heritage sites.
- Provide multilingual, offline storytelling for visitors of all ages.
- Enable families, children, and international tourists to explore history freely and comfortably.</a:t>
          </a:r>
        </a:p>
      </dgm:t>
    </dgm:pt>
    <dgm:pt modelId="{A68EA9B1-89AC-45C7-84D0-BC67BF6BC520}" type="parTrans" cxnId="{7B5D2062-C515-4C81-B792-15BF5706B22D}">
      <dgm:prSet/>
      <dgm:spPr/>
      <dgm:t>
        <a:bodyPr/>
        <a:lstStyle/>
        <a:p>
          <a:endParaRPr lang="en-US"/>
        </a:p>
      </dgm:t>
    </dgm:pt>
    <dgm:pt modelId="{A239CE66-2B5A-48E4-BAF4-E0CDEE7C16AA}" type="sibTrans" cxnId="{7B5D2062-C515-4C81-B792-15BF5706B22D}">
      <dgm:prSet/>
      <dgm:spPr/>
      <dgm:t>
        <a:bodyPr/>
        <a:lstStyle/>
        <a:p>
          <a:endParaRPr lang="en-US"/>
        </a:p>
      </dgm:t>
    </dgm:pt>
    <dgm:pt modelId="{FFB3E41B-C654-447A-B5F9-1F9C18D2708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Ages:</a:t>
          </a:r>
          <a:r>
            <a:rPr lang="ar-EG" b="1" dirty="0"/>
            <a:t> </a:t>
          </a:r>
          <a:r>
            <a:rPr lang="en-US" dirty="0"/>
            <a:t>18–</a:t>
          </a:r>
          <a:r>
            <a:rPr lang="ar-EG" dirty="0"/>
            <a:t>4</a:t>
          </a:r>
          <a:r>
            <a:rPr lang="en-US" dirty="0"/>
            <a:t>5:</a:t>
          </a:r>
          <a:r>
            <a:rPr lang="ar-EG" dirty="0"/>
            <a:t> </a:t>
          </a:r>
          <a:r>
            <a:rPr lang="en-US" dirty="0"/>
            <a:t>Family-friendly, educational visits</a:t>
          </a:r>
          <a:r>
            <a:rPr lang="ar-EG" dirty="0"/>
            <a:t> ,</a:t>
          </a:r>
          <a:r>
            <a:rPr lang="en-US" dirty="0"/>
            <a:t>Simple and comfortable experiences</a:t>
          </a:r>
          <a:r>
            <a:rPr lang="ar-EG" dirty="0"/>
            <a:t>.</a:t>
          </a:r>
          <a:endParaRPr lang="en-US" dirty="0"/>
        </a:p>
        <a:p>
          <a:pPr>
            <a:buFont typeface="Arial" panose="020B0604020202020204" pitchFamily="34" charset="0"/>
            <a:buChar char="•"/>
          </a:pPr>
          <a:r>
            <a:rPr lang="en-US" b="1" dirty="0"/>
            <a:t>Nationality:</a:t>
          </a:r>
          <a:r>
            <a:rPr lang="ar-EG" b="1" dirty="0"/>
            <a:t> </a:t>
          </a:r>
          <a:r>
            <a:rPr lang="en-US" dirty="0"/>
            <a:t>Europeans</a:t>
          </a:r>
          <a:r>
            <a:rPr lang="ar-EG" dirty="0"/>
            <a:t> ,</a:t>
          </a:r>
          <a:r>
            <a:rPr lang="en-US" dirty="0"/>
            <a:t>Middle Eastern</a:t>
          </a:r>
          <a:r>
            <a:rPr lang="ar-EG" dirty="0"/>
            <a:t> ,</a:t>
          </a:r>
          <a:r>
            <a:rPr lang="en-US" dirty="0"/>
            <a:t>North Americans</a:t>
          </a:r>
          <a:r>
            <a:rPr lang="ar-EG" dirty="0"/>
            <a:t> ,</a:t>
          </a:r>
          <a:r>
            <a:rPr lang="en-US" dirty="0"/>
            <a:t>Asians</a:t>
          </a:r>
        </a:p>
        <a:p>
          <a:pPr>
            <a:buFont typeface="Arial" panose="020B0604020202020204" pitchFamily="34" charset="0"/>
            <a:buChar char="•"/>
          </a:pPr>
          <a:r>
            <a:rPr lang="en-US" b="1" dirty="0"/>
            <a:t>Platforms:</a:t>
          </a:r>
          <a:r>
            <a:rPr lang="ar-EG" b="1" dirty="0"/>
            <a:t> </a:t>
          </a:r>
          <a:r>
            <a:rPr lang="en-US" dirty="0"/>
            <a:t>Instagram, Facebook, TikTok</a:t>
          </a:r>
        </a:p>
      </dgm:t>
    </dgm:pt>
    <dgm:pt modelId="{A053A023-808F-4C63-87A2-B8FA7E8541D6}" type="parTrans" cxnId="{16AEA635-23D4-45CF-8680-4F8D2100B9D0}">
      <dgm:prSet/>
      <dgm:spPr/>
      <dgm:t>
        <a:bodyPr/>
        <a:lstStyle/>
        <a:p>
          <a:endParaRPr lang="en-US"/>
        </a:p>
      </dgm:t>
    </dgm:pt>
    <dgm:pt modelId="{C0070182-AAE6-4387-B692-6D340A8F8D75}" type="sibTrans" cxnId="{16AEA635-23D4-45CF-8680-4F8D2100B9D0}">
      <dgm:prSet/>
      <dgm:spPr/>
      <dgm:t>
        <a:bodyPr/>
        <a:lstStyle/>
        <a:p>
          <a:endParaRPr lang="en-US"/>
        </a:p>
      </dgm:t>
    </dgm:pt>
    <dgm:pt modelId="{67C46567-6F62-4CA5-9E26-2D5284454E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- Smart lightweight headsets + companion mobile app.</a:t>
          </a:r>
          <a:endParaRPr lang="ar-EG" b="0" dirty="0"/>
        </a:p>
        <a:p>
          <a:pPr>
            <a:buFont typeface="Arial" panose="020B0604020202020204" pitchFamily="34" charset="0"/>
            <a:buChar char="•"/>
          </a:pPr>
          <a:r>
            <a:rPr lang="en-US" b="0" dirty="0"/>
            <a:t>- Two modes: Tourist Mode</a:t>
          </a:r>
          <a:r>
            <a:rPr lang="ar-EG" b="0" dirty="0"/>
            <a:t> </a:t>
          </a:r>
          <a:r>
            <a:rPr lang="en-US" b="0" dirty="0"/>
            <a:t>&amp; Kids Mode (simplified, educational content)</a:t>
          </a:r>
          <a:endParaRPr lang="ar-EG" b="0" dirty="0"/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- Immersive storytelling audio , Offline accessibility , Ulti-language support &amp; Accessibility features for people with disabilities.</a:t>
          </a:r>
        </a:p>
      </dgm:t>
    </dgm:pt>
    <dgm:pt modelId="{5EAC4C20-D23C-4337-B691-A0238CE12FEA}" type="parTrans" cxnId="{59F8F299-A019-4AF6-8D7F-CB6C84FEF8AA}">
      <dgm:prSet/>
      <dgm:spPr/>
      <dgm:t>
        <a:bodyPr/>
        <a:lstStyle/>
        <a:p>
          <a:endParaRPr lang="en-US"/>
        </a:p>
      </dgm:t>
    </dgm:pt>
    <dgm:pt modelId="{EFA16A6F-244D-4410-9A24-3CF88EE2A6D5}" type="sibTrans" cxnId="{59F8F299-A019-4AF6-8D7F-CB6C84FEF8AA}">
      <dgm:prSet/>
      <dgm:spPr/>
      <dgm:t>
        <a:bodyPr/>
        <a:lstStyle/>
        <a:p>
          <a:endParaRPr lang="en-US"/>
        </a:p>
      </dgm:t>
    </dgm:pt>
    <dgm:pt modelId="{D4E8E1EE-E7EA-4927-8665-C2E6CE6F729A}" type="pres">
      <dgm:prSet presAssocID="{1794F266-0380-4313-81F0-6CE24883E42A}" presName="Name0" presStyleCnt="0">
        <dgm:presLayoutVars>
          <dgm:chMax val="7"/>
          <dgm:chPref val="7"/>
          <dgm:dir/>
        </dgm:presLayoutVars>
      </dgm:prSet>
      <dgm:spPr/>
    </dgm:pt>
    <dgm:pt modelId="{A4B94049-CEAD-4225-8EDF-8F55A2231B86}" type="pres">
      <dgm:prSet presAssocID="{1794F266-0380-4313-81F0-6CE24883E42A}" presName="Name1" presStyleCnt="0"/>
      <dgm:spPr/>
    </dgm:pt>
    <dgm:pt modelId="{8796BACF-0439-44FA-B260-CDE2FDA9F55E}" type="pres">
      <dgm:prSet presAssocID="{1794F266-0380-4313-81F0-6CE24883E42A}" presName="cycle" presStyleCnt="0"/>
      <dgm:spPr/>
    </dgm:pt>
    <dgm:pt modelId="{B6F4E61F-8E09-4ED3-B077-31B2B17A0793}" type="pres">
      <dgm:prSet presAssocID="{1794F266-0380-4313-81F0-6CE24883E42A}" presName="srcNode" presStyleLbl="node1" presStyleIdx="0" presStyleCnt="4"/>
      <dgm:spPr/>
    </dgm:pt>
    <dgm:pt modelId="{6B7A0B3D-1869-4B63-9283-DA97DEC2953D}" type="pres">
      <dgm:prSet presAssocID="{1794F266-0380-4313-81F0-6CE24883E42A}" presName="conn" presStyleLbl="parChTrans1D2" presStyleIdx="0" presStyleCnt="1"/>
      <dgm:spPr/>
    </dgm:pt>
    <dgm:pt modelId="{9F7ACC0A-EE2A-41CC-A282-61583A130966}" type="pres">
      <dgm:prSet presAssocID="{1794F266-0380-4313-81F0-6CE24883E42A}" presName="extraNode" presStyleLbl="node1" presStyleIdx="0" presStyleCnt="4"/>
      <dgm:spPr/>
    </dgm:pt>
    <dgm:pt modelId="{ED5A537D-F43C-4919-96BB-248827AB074D}" type="pres">
      <dgm:prSet presAssocID="{1794F266-0380-4313-81F0-6CE24883E42A}" presName="dstNode" presStyleLbl="node1" presStyleIdx="0" presStyleCnt="4"/>
      <dgm:spPr/>
    </dgm:pt>
    <dgm:pt modelId="{2FCEE817-5D39-4FDC-8A83-6B37F9F562B5}" type="pres">
      <dgm:prSet presAssocID="{329B7552-103F-4CAC-AF98-EE92D4E4DF6B}" presName="text_1" presStyleLbl="node1" presStyleIdx="0" presStyleCnt="4">
        <dgm:presLayoutVars>
          <dgm:bulletEnabled val="1"/>
        </dgm:presLayoutVars>
      </dgm:prSet>
      <dgm:spPr/>
    </dgm:pt>
    <dgm:pt modelId="{FCD26161-BD28-4EA9-89F4-4196C57F5817}" type="pres">
      <dgm:prSet presAssocID="{329B7552-103F-4CAC-AF98-EE92D4E4DF6B}" presName="accent_1" presStyleCnt="0"/>
      <dgm:spPr/>
    </dgm:pt>
    <dgm:pt modelId="{D742FBB8-8349-41C8-85C1-8B96D69C55ED}" type="pres">
      <dgm:prSet presAssocID="{329B7552-103F-4CAC-AF98-EE92D4E4DF6B}" presName="accentRepeatNode" presStyleLbl="solidFgAcc1" presStyleIdx="0" presStyleCnt="4"/>
      <dgm:spPr>
        <a:solidFill>
          <a:schemeClr val="accent3">
            <a:lumMod val="40000"/>
            <a:lumOff val="60000"/>
          </a:schemeClr>
        </a:solidFill>
      </dgm:spPr>
    </dgm:pt>
    <dgm:pt modelId="{2AE4DBAA-301C-4276-B6E4-88863F0BE415}" type="pres">
      <dgm:prSet presAssocID="{507FC279-53BF-412C-B562-9765D1120C05}" presName="text_2" presStyleLbl="node1" presStyleIdx="1" presStyleCnt="4">
        <dgm:presLayoutVars>
          <dgm:bulletEnabled val="1"/>
        </dgm:presLayoutVars>
      </dgm:prSet>
      <dgm:spPr/>
    </dgm:pt>
    <dgm:pt modelId="{ABCFFAC0-2BCC-4E05-9811-EE571B033C9F}" type="pres">
      <dgm:prSet presAssocID="{507FC279-53BF-412C-B562-9765D1120C05}" presName="accent_2" presStyleCnt="0"/>
      <dgm:spPr/>
    </dgm:pt>
    <dgm:pt modelId="{B8F89870-A665-46C6-9EAD-5662DBD19BEA}" type="pres">
      <dgm:prSet presAssocID="{507FC279-53BF-412C-B562-9765D1120C05}" presName="accentRepeatNode" presStyleLbl="solidFgAcc1" presStyleIdx="1" presStyleCnt="4"/>
      <dgm:spPr>
        <a:solidFill>
          <a:schemeClr val="accent3">
            <a:lumMod val="40000"/>
            <a:lumOff val="60000"/>
          </a:schemeClr>
        </a:solidFill>
      </dgm:spPr>
    </dgm:pt>
    <dgm:pt modelId="{1D67B76F-D71D-4A03-888C-0814D4975E3E}" type="pres">
      <dgm:prSet presAssocID="{FFB3E41B-C654-447A-B5F9-1F9C18D27080}" presName="text_3" presStyleLbl="node1" presStyleIdx="2" presStyleCnt="4">
        <dgm:presLayoutVars>
          <dgm:bulletEnabled val="1"/>
        </dgm:presLayoutVars>
      </dgm:prSet>
      <dgm:spPr/>
    </dgm:pt>
    <dgm:pt modelId="{94090DBA-8099-4C95-AFB3-0055BA176CAF}" type="pres">
      <dgm:prSet presAssocID="{FFB3E41B-C654-447A-B5F9-1F9C18D27080}" presName="accent_3" presStyleCnt="0"/>
      <dgm:spPr/>
    </dgm:pt>
    <dgm:pt modelId="{E71D73FB-D883-49D4-B1EC-4F9CAD923F97}" type="pres">
      <dgm:prSet presAssocID="{FFB3E41B-C654-447A-B5F9-1F9C18D27080}" presName="accentRepeatNode" presStyleLbl="solidFgAcc1" presStyleIdx="2" presStyleCnt="4"/>
      <dgm:spPr>
        <a:solidFill>
          <a:schemeClr val="accent3">
            <a:lumMod val="40000"/>
            <a:lumOff val="60000"/>
          </a:schemeClr>
        </a:solidFill>
      </dgm:spPr>
    </dgm:pt>
    <dgm:pt modelId="{DB137371-B2D4-4802-9034-39DD7C5C78A0}" type="pres">
      <dgm:prSet presAssocID="{67C46567-6F62-4CA5-9E26-2D5284454E46}" presName="text_4" presStyleLbl="node1" presStyleIdx="3" presStyleCnt="4">
        <dgm:presLayoutVars>
          <dgm:bulletEnabled val="1"/>
        </dgm:presLayoutVars>
      </dgm:prSet>
      <dgm:spPr/>
    </dgm:pt>
    <dgm:pt modelId="{826CD6FA-C269-43A6-9792-F2B9DEC751F1}" type="pres">
      <dgm:prSet presAssocID="{67C46567-6F62-4CA5-9E26-2D5284454E46}" presName="accent_4" presStyleCnt="0"/>
      <dgm:spPr/>
    </dgm:pt>
    <dgm:pt modelId="{FF088FCB-90CD-4897-97ED-2AF9D9FA893D}" type="pres">
      <dgm:prSet presAssocID="{67C46567-6F62-4CA5-9E26-2D5284454E46}" presName="accentRepeatNode" presStyleLbl="solidFgAcc1" presStyleIdx="3" presStyleCnt="4"/>
      <dgm:spPr>
        <a:solidFill>
          <a:schemeClr val="accent3">
            <a:lumMod val="40000"/>
            <a:lumOff val="60000"/>
          </a:schemeClr>
        </a:solidFill>
      </dgm:spPr>
    </dgm:pt>
  </dgm:ptLst>
  <dgm:cxnLst>
    <dgm:cxn modelId="{02E8A300-27A8-453B-BC5E-162EA9ECF5DA}" type="presOf" srcId="{1794F266-0380-4313-81F0-6CE24883E42A}" destId="{D4E8E1EE-E7EA-4927-8665-C2E6CE6F729A}" srcOrd="0" destOrd="0" presId="urn:microsoft.com/office/officeart/2008/layout/VerticalCurvedList"/>
    <dgm:cxn modelId="{A159FF11-4AF5-477E-B456-DA296EF1702E}" type="presOf" srcId="{507FC279-53BF-412C-B562-9765D1120C05}" destId="{2AE4DBAA-301C-4276-B6E4-88863F0BE415}" srcOrd="0" destOrd="0" presId="urn:microsoft.com/office/officeart/2008/layout/VerticalCurvedList"/>
    <dgm:cxn modelId="{16AEA635-23D4-45CF-8680-4F8D2100B9D0}" srcId="{1794F266-0380-4313-81F0-6CE24883E42A}" destId="{FFB3E41B-C654-447A-B5F9-1F9C18D27080}" srcOrd="2" destOrd="0" parTransId="{A053A023-808F-4C63-87A2-B8FA7E8541D6}" sibTransId="{C0070182-AAE6-4387-B692-6D340A8F8D75}"/>
    <dgm:cxn modelId="{7B5D2062-C515-4C81-B792-15BF5706B22D}" srcId="{1794F266-0380-4313-81F0-6CE24883E42A}" destId="{507FC279-53BF-412C-B562-9765D1120C05}" srcOrd="1" destOrd="0" parTransId="{A68EA9B1-89AC-45C7-84D0-BC67BF6BC520}" sibTransId="{A239CE66-2B5A-48E4-BAF4-E0CDEE7C16AA}"/>
    <dgm:cxn modelId="{59F8F299-A019-4AF6-8D7F-CB6C84FEF8AA}" srcId="{1794F266-0380-4313-81F0-6CE24883E42A}" destId="{67C46567-6F62-4CA5-9E26-2D5284454E46}" srcOrd="3" destOrd="0" parTransId="{5EAC4C20-D23C-4337-B691-A0238CE12FEA}" sibTransId="{EFA16A6F-244D-4410-9A24-3CF88EE2A6D5}"/>
    <dgm:cxn modelId="{F0C590C1-0BBC-4549-9247-BE9EC75A26FF}" type="presOf" srcId="{67C46567-6F62-4CA5-9E26-2D5284454E46}" destId="{DB137371-B2D4-4802-9034-39DD7C5C78A0}" srcOrd="0" destOrd="0" presId="urn:microsoft.com/office/officeart/2008/layout/VerticalCurvedList"/>
    <dgm:cxn modelId="{8F9720C9-1A9B-48CD-B5A8-F663D8503D01}" type="presOf" srcId="{329B7552-103F-4CAC-AF98-EE92D4E4DF6B}" destId="{2FCEE817-5D39-4FDC-8A83-6B37F9F562B5}" srcOrd="0" destOrd="0" presId="urn:microsoft.com/office/officeart/2008/layout/VerticalCurvedList"/>
    <dgm:cxn modelId="{1D7C53DA-C7DC-467F-9682-348D13592070}" srcId="{1794F266-0380-4313-81F0-6CE24883E42A}" destId="{329B7552-103F-4CAC-AF98-EE92D4E4DF6B}" srcOrd="0" destOrd="0" parTransId="{EDEFDDAD-D517-4B7F-A458-F19D8B37CE72}" sibTransId="{93BE8EF4-777C-4B06-8996-341C054E30EE}"/>
    <dgm:cxn modelId="{14DA2EF4-39D8-4132-B485-F2A7828841B3}" type="presOf" srcId="{FFB3E41B-C654-447A-B5F9-1F9C18D27080}" destId="{1D67B76F-D71D-4A03-888C-0814D4975E3E}" srcOrd="0" destOrd="0" presId="urn:microsoft.com/office/officeart/2008/layout/VerticalCurvedList"/>
    <dgm:cxn modelId="{BE1BABFE-F5BF-4E58-9653-832CB4910AEB}" type="presOf" srcId="{93BE8EF4-777C-4B06-8996-341C054E30EE}" destId="{6B7A0B3D-1869-4B63-9283-DA97DEC2953D}" srcOrd="0" destOrd="0" presId="urn:microsoft.com/office/officeart/2008/layout/VerticalCurvedList"/>
    <dgm:cxn modelId="{18E834C8-FC36-4443-B4FC-41B055D49112}" type="presParOf" srcId="{D4E8E1EE-E7EA-4927-8665-C2E6CE6F729A}" destId="{A4B94049-CEAD-4225-8EDF-8F55A2231B86}" srcOrd="0" destOrd="0" presId="urn:microsoft.com/office/officeart/2008/layout/VerticalCurvedList"/>
    <dgm:cxn modelId="{5B1C4005-3DEE-4086-8F06-5CDF14EA0C52}" type="presParOf" srcId="{A4B94049-CEAD-4225-8EDF-8F55A2231B86}" destId="{8796BACF-0439-44FA-B260-CDE2FDA9F55E}" srcOrd="0" destOrd="0" presId="urn:microsoft.com/office/officeart/2008/layout/VerticalCurvedList"/>
    <dgm:cxn modelId="{A71692DE-C8CF-4E80-A5A7-8EC01BF1BE01}" type="presParOf" srcId="{8796BACF-0439-44FA-B260-CDE2FDA9F55E}" destId="{B6F4E61F-8E09-4ED3-B077-31B2B17A0793}" srcOrd="0" destOrd="0" presId="urn:microsoft.com/office/officeart/2008/layout/VerticalCurvedList"/>
    <dgm:cxn modelId="{F39A4AC3-B3DA-458D-8B2A-46E5A9EC9F94}" type="presParOf" srcId="{8796BACF-0439-44FA-B260-CDE2FDA9F55E}" destId="{6B7A0B3D-1869-4B63-9283-DA97DEC2953D}" srcOrd="1" destOrd="0" presId="urn:microsoft.com/office/officeart/2008/layout/VerticalCurvedList"/>
    <dgm:cxn modelId="{7C4910F5-F76A-4234-8DC3-5693F7E63312}" type="presParOf" srcId="{8796BACF-0439-44FA-B260-CDE2FDA9F55E}" destId="{9F7ACC0A-EE2A-41CC-A282-61583A130966}" srcOrd="2" destOrd="0" presId="urn:microsoft.com/office/officeart/2008/layout/VerticalCurvedList"/>
    <dgm:cxn modelId="{9D8A234C-F18E-4A96-AD59-E75ED9422FAB}" type="presParOf" srcId="{8796BACF-0439-44FA-B260-CDE2FDA9F55E}" destId="{ED5A537D-F43C-4919-96BB-248827AB074D}" srcOrd="3" destOrd="0" presId="urn:microsoft.com/office/officeart/2008/layout/VerticalCurvedList"/>
    <dgm:cxn modelId="{58839588-61C5-4CA0-BE8F-182395D9B1F5}" type="presParOf" srcId="{A4B94049-CEAD-4225-8EDF-8F55A2231B86}" destId="{2FCEE817-5D39-4FDC-8A83-6B37F9F562B5}" srcOrd="1" destOrd="0" presId="urn:microsoft.com/office/officeart/2008/layout/VerticalCurvedList"/>
    <dgm:cxn modelId="{6F644522-8E24-4F37-ACF0-2161440A8384}" type="presParOf" srcId="{A4B94049-CEAD-4225-8EDF-8F55A2231B86}" destId="{FCD26161-BD28-4EA9-89F4-4196C57F5817}" srcOrd="2" destOrd="0" presId="urn:microsoft.com/office/officeart/2008/layout/VerticalCurvedList"/>
    <dgm:cxn modelId="{71055712-1E53-43BD-AA14-C1A3C8671D78}" type="presParOf" srcId="{FCD26161-BD28-4EA9-89F4-4196C57F5817}" destId="{D742FBB8-8349-41C8-85C1-8B96D69C55ED}" srcOrd="0" destOrd="0" presId="urn:microsoft.com/office/officeart/2008/layout/VerticalCurvedList"/>
    <dgm:cxn modelId="{3F792270-43F0-4DC8-8151-234BD06E1415}" type="presParOf" srcId="{A4B94049-CEAD-4225-8EDF-8F55A2231B86}" destId="{2AE4DBAA-301C-4276-B6E4-88863F0BE415}" srcOrd="3" destOrd="0" presId="urn:microsoft.com/office/officeart/2008/layout/VerticalCurvedList"/>
    <dgm:cxn modelId="{1A8E6758-63B9-49A6-A719-C616AD3390AE}" type="presParOf" srcId="{A4B94049-CEAD-4225-8EDF-8F55A2231B86}" destId="{ABCFFAC0-2BCC-4E05-9811-EE571B033C9F}" srcOrd="4" destOrd="0" presId="urn:microsoft.com/office/officeart/2008/layout/VerticalCurvedList"/>
    <dgm:cxn modelId="{788D92B8-2912-4A41-BBEE-4A61858639CD}" type="presParOf" srcId="{ABCFFAC0-2BCC-4E05-9811-EE571B033C9F}" destId="{B8F89870-A665-46C6-9EAD-5662DBD19BEA}" srcOrd="0" destOrd="0" presId="urn:microsoft.com/office/officeart/2008/layout/VerticalCurvedList"/>
    <dgm:cxn modelId="{CFB2BF58-BA6F-44FD-9CDE-16E07CC2D9D1}" type="presParOf" srcId="{A4B94049-CEAD-4225-8EDF-8F55A2231B86}" destId="{1D67B76F-D71D-4A03-888C-0814D4975E3E}" srcOrd="5" destOrd="0" presId="urn:microsoft.com/office/officeart/2008/layout/VerticalCurvedList"/>
    <dgm:cxn modelId="{47D0AFE6-873F-4F98-9772-AD0FD714B9FC}" type="presParOf" srcId="{A4B94049-CEAD-4225-8EDF-8F55A2231B86}" destId="{94090DBA-8099-4C95-AFB3-0055BA176CAF}" srcOrd="6" destOrd="0" presId="urn:microsoft.com/office/officeart/2008/layout/VerticalCurvedList"/>
    <dgm:cxn modelId="{90A8953F-0F7F-4589-8B02-FBB5AB7270F2}" type="presParOf" srcId="{94090DBA-8099-4C95-AFB3-0055BA176CAF}" destId="{E71D73FB-D883-49D4-B1EC-4F9CAD923F97}" srcOrd="0" destOrd="0" presId="urn:microsoft.com/office/officeart/2008/layout/VerticalCurvedList"/>
    <dgm:cxn modelId="{56F94DAE-06FA-45BE-A0AE-EFC4E4BE7590}" type="presParOf" srcId="{A4B94049-CEAD-4225-8EDF-8F55A2231B86}" destId="{DB137371-B2D4-4802-9034-39DD7C5C78A0}" srcOrd="7" destOrd="0" presId="urn:microsoft.com/office/officeart/2008/layout/VerticalCurvedList"/>
    <dgm:cxn modelId="{867E396D-1543-4E0B-A0A0-7A00DBB85A2D}" type="presParOf" srcId="{A4B94049-CEAD-4225-8EDF-8F55A2231B86}" destId="{826CD6FA-C269-43A6-9792-F2B9DEC751F1}" srcOrd="8" destOrd="0" presId="urn:microsoft.com/office/officeart/2008/layout/VerticalCurvedList"/>
    <dgm:cxn modelId="{C34387E4-6029-4887-AD8E-16B6E5192B65}" type="presParOf" srcId="{826CD6FA-C269-43A6-9792-F2B9DEC751F1}" destId="{FF088FCB-90CD-4897-97ED-2AF9D9FA893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A0B3D-1869-4B63-9283-DA97DEC2953D}">
      <dsp:nvSpPr>
        <dsp:cNvPr id="0" name=""/>
        <dsp:cNvSpPr/>
      </dsp:nvSpPr>
      <dsp:spPr>
        <a:xfrm>
          <a:off x="-6685451" y="-1022313"/>
          <a:ext cx="7956911" cy="7956911"/>
        </a:xfrm>
        <a:prstGeom prst="blockArc">
          <a:avLst>
            <a:gd name="adj1" fmla="val 18900000"/>
            <a:gd name="adj2" fmla="val 2700000"/>
            <a:gd name="adj3" fmla="val 271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CEE817-5D39-4FDC-8A83-6B37F9F562B5}">
      <dsp:nvSpPr>
        <dsp:cNvPr id="0" name=""/>
        <dsp:cNvSpPr/>
      </dsp:nvSpPr>
      <dsp:spPr>
        <a:xfrm>
          <a:off x="665299" y="454536"/>
          <a:ext cx="11349469" cy="90954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52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IR.T connects the past with the present through immersive audio storytelling.
- We aim to make Egyptian heritage accessible, engaging, and enjoyable for everyone.
- Our long-term goal: expand nationwide and become a leading tourism-tech brand.</a:t>
          </a:r>
        </a:p>
      </dsp:txBody>
      <dsp:txXfrm>
        <a:off x="665299" y="454536"/>
        <a:ext cx="11349469" cy="909545"/>
      </dsp:txXfrm>
    </dsp:sp>
    <dsp:sp modelId="{D742FBB8-8349-41C8-85C1-8B96D69C55ED}">
      <dsp:nvSpPr>
        <dsp:cNvPr id="0" name=""/>
        <dsp:cNvSpPr/>
      </dsp:nvSpPr>
      <dsp:spPr>
        <a:xfrm>
          <a:off x="96833" y="340843"/>
          <a:ext cx="1136932" cy="1136932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E4DBAA-301C-4276-B6E4-88863F0BE415}">
      <dsp:nvSpPr>
        <dsp:cNvPr id="0" name=""/>
        <dsp:cNvSpPr/>
      </dsp:nvSpPr>
      <dsp:spPr>
        <a:xfrm>
          <a:off x="1186763" y="1819091"/>
          <a:ext cx="10828005" cy="90954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52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Offer smart audio-guide headsets for museums and heritage sites.
- Provide multilingual, offline storytelling for visitors of all ages.
- Enable families, children, and international tourists to explore history freely and comfortably.</a:t>
          </a:r>
        </a:p>
      </dsp:txBody>
      <dsp:txXfrm>
        <a:off x="1186763" y="1819091"/>
        <a:ext cx="10828005" cy="909545"/>
      </dsp:txXfrm>
    </dsp:sp>
    <dsp:sp modelId="{B8F89870-A665-46C6-9EAD-5662DBD19BEA}">
      <dsp:nvSpPr>
        <dsp:cNvPr id="0" name=""/>
        <dsp:cNvSpPr/>
      </dsp:nvSpPr>
      <dsp:spPr>
        <a:xfrm>
          <a:off x="618296" y="1705398"/>
          <a:ext cx="1136932" cy="1136932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67B76F-D71D-4A03-888C-0814D4975E3E}">
      <dsp:nvSpPr>
        <dsp:cNvPr id="0" name=""/>
        <dsp:cNvSpPr/>
      </dsp:nvSpPr>
      <dsp:spPr>
        <a:xfrm>
          <a:off x="1186763" y="3183647"/>
          <a:ext cx="10828005" cy="90954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52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Ages:</a:t>
          </a:r>
          <a:r>
            <a:rPr lang="ar-EG" sz="1500" b="1" kern="1200" dirty="0"/>
            <a:t> </a:t>
          </a:r>
          <a:r>
            <a:rPr lang="en-US" sz="1500" kern="1200" dirty="0"/>
            <a:t>18–</a:t>
          </a:r>
          <a:r>
            <a:rPr lang="ar-EG" sz="1500" kern="1200" dirty="0"/>
            <a:t>4</a:t>
          </a:r>
          <a:r>
            <a:rPr lang="en-US" sz="1500" kern="1200" dirty="0"/>
            <a:t>5:</a:t>
          </a:r>
          <a:r>
            <a:rPr lang="ar-EG" sz="1500" kern="1200" dirty="0"/>
            <a:t> </a:t>
          </a:r>
          <a:r>
            <a:rPr lang="en-US" sz="1500" kern="1200" dirty="0"/>
            <a:t>Family-friendly, educational visits</a:t>
          </a:r>
          <a:r>
            <a:rPr lang="ar-EG" sz="1500" kern="1200" dirty="0"/>
            <a:t> ,</a:t>
          </a:r>
          <a:r>
            <a:rPr lang="en-US" sz="1500" kern="1200" dirty="0"/>
            <a:t>Simple and comfortable experiences</a:t>
          </a:r>
          <a:r>
            <a:rPr lang="ar-EG" sz="1500" kern="1200" dirty="0"/>
            <a:t>.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Nationality:</a:t>
          </a:r>
          <a:r>
            <a:rPr lang="ar-EG" sz="1500" b="1" kern="1200" dirty="0"/>
            <a:t> </a:t>
          </a:r>
          <a:r>
            <a:rPr lang="en-US" sz="1500" kern="1200" dirty="0"/>
            <a:t>Europeans</a:t>
          </a:r>
          <a:r>
            <a:rPr lang="ar-EG" sz="1500" kern="1200" dirty="0"/>
            <a:t> ,</a:t>
          </a:r>
          <a:r>
            <a:rPr lang="en-US" sz="1500" kern="1200" dirty="0"/>
            <a:t>Middle Eastern</a:t>
          </a:r>
          <a:r>
            <a:rPr lang="ar-EG" sz="1500" kern="1200" dirty="0"/>
            <a:t> ,</a:t>
          </a:r>
          <a:r>
            <a:rPr lang="en-US" sz="1500" kern="1200" dirty="0"/>
            <a:t>North Americans</a:t>
          </a:r>
          <a:r>
            <a:rPr lang="ar-EG" sz="1500" kern="1200" dirty="0"/>
            <a:t> ,</a:t>
          </a:r>
          <a:r>
            <a:rPr lang="en-US" sz="1500" kern="1200" dirty="0"/>
            <a:t>Asians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Platforms:</a:t>
          </a:r>
          <a:r>
            <a:rPr lang="ar-EG" sz="1500" b="1" kern="1200" dirty="0"/>
            <a:t> </a:t>
          </a:r>
          <a:r>
            <a:rPr lang="en-US" sz="1500" kern="1200" dirty="0"/>
            <a:t>Instagram, Facebook, TikTok</a:t>
          </a:r>
        </a:p>
      </dsp:txBody>
      <dsp:txXfrm>
        <a:off x="1186763" y="3183647"/>
        <a:ext cx="10828005" cy="909545"/>
      </dsp:txXfrm>
    </dsp:sp>
    <dsp:sp modelId="{E71D73FB-D883-49D4-B1EC-4F9CAD923F97}">
      <dsp:nvSpPr>
        <dsp:cNvPr id="0" name=""/>
        <dsp:cNvSpPr/>
      </dsp:nvSpPr>
      <dsp:spPr>
        <a:xfrm>
          <a:off x="618296" y="3069953"/>
          <a:ext cx="1136932" cy="1136932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B137371-B2D4-4802-9034-39DD7C5C78A0}">
      <dsp:nvSpPr>
        <dsp:cNvPr id="0" name=""/>
        <dsp:cNvSpPr/>
      </dsp:nvSpPr>
      <dsp:spPr>
        <a:xfrm>
          <a:off x="665299" y="4548202"/>
          <a:ext cx="11349469" cy="90954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52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kern="1200" dirty="0"/>
            <a:t>- Smart lightweight headsets + companion mobile app.</a:t>
          </a:r>
          <a:endParaRPr lang="ar-EG" sz="1500" b="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kern="1200" dirty="0"/>
            <a:t>- Two modes: Tourist Mode</a:t>
          </a:r>
          <a:r>
            <a:rPr lang="ar-EG" sz="1500" b="0" kern="1200" dirty="0"/>
            <a:t> </a:t>
          </a:r>
          <a:r>
            <a:rPr lang="en-US" sz="1500" b="0" kern="1200" dirty="0"/>
            <a:t>&amp; Kids Mode (simplified, educational content)</a:t>
          </a:r>
          <a:endParaRPr lang="ar-EG" sz="1500" b="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- Immersive storytelling audio , Offline accessibility , Ulti-language support &amp; Accessibility features for people with disabilities.</a:t>
          </a:r>
        </a:p>
      </dsp:txBody>
      <dsp:txXfrm>
        <a:off x="665299" y="4548202"/>
        <a:ext cx="11349469" cy="909545"/>
      </dsp:txXfrm>
    </dsp:sp>
    <dsp:sp modelId="{FF088FCB-90CD-4897-97ED-2AF9D9FA893D}">
      <dsp:nvSpPr>
        <dsp:cNvPr id="0" name=""/>
        <dsp:cNvSpPr/>
      </dsp:nvSpPr>
      <dsp:spPr>
        <a:xfrm>
          <a:off x="96833" y="4434509"/>
          <a:ext cx="1136932" cy="1136932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D30E-2DFE-ECE3-9DC7-98E0E147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5A35F-6CDD-2872-A95B-94A6D77C0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99587-E9F1-65CA-918D-052A8AFBC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F6071-6B44-DF83-7C1B-0B69E90B8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15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9C52-285C-7B06-4967-DD805E06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5B6AA-2CBF-1CC5-4480-873463E97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25A08-50E6-A494-70EA-6DDA55ED5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CCF1E-8914-62B4-4222-BA82C437E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87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80B0-7708-8C56-887F-255D0EE6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85CF8-E873-8F60-49F1-59D9874B7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0415F-0A0C-6B1D-955A-F4E50159B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3636-B05C-9E4E-E225-BAFDBE85A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62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F1B3-3931-49A7-13D4-5A520537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B2DE7-577E-C42E-D343-681659E1E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543A6-6941-E421-0A48-743BC6856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F6C5E-F824-82AD-0038-8B3B3D081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14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E7BA-5839-F274-3FDA-815CE314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ABAA5-FC55-98AC-E94F-0A154387E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2F009-F5A8-0F1D-42CA-8F4D25CD5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B15B7-214F-DFE3-7456-70773EB00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60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ACE9-FE4E-7749-5256-724528DD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735BA-FAA0-E838-9C49-BFB94D7DD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F5CFA-D3C3-1B2F-1CE4-7AA68E489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8A6E7-EEC6-5675-C6AE-CC5343B5D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0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1BBE-0AFB-846B-251D-4C765213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D06E2-D7F2-D9E3-AB7D-10A0EA7E0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38C75-5D08-8254-1D44-7F36CB002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42926-0E14-6CFE-670E-7026B5744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6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4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33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89" r:id="rId12"/>
    <p:sldLayoutId id="2147483690" r:id="rId13"/>
    <p:sldLayoutId id="2147483691" r:id="rId14"/>
    <p:sldLayoutId id="2147483692" r:id="rId15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0_3DE3FB4F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DPooSBYiOSQ/?igsh=MnI2YjVoZmdjYmt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rive.google.com/file/d/1SUt-IEd_7VWxnHe8USksI-88910coeSp/view?usp=sharing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heartlight.org/articles/201904/20190407_unfair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old and black drawing of a person wearing headphones&#10;&#10;AI-generated content may be incorrect.">
            <a:extLst>
              <a:ext uri="{FF2B5EF4-FFF2-40B4-BE49-F238E27FC236}">
                <a16:creationId xmlns:a16="http://schemas.microsoft.com/office/drawing/2014/main" id="{C34652A7-C874-4909-B867-22112B483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11" y="991480"/>
            <a:ext cx="4762500" cy="476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B774B-0BEF-3C40-6F36-94D0BCB11242}"/>
              </a:ext>
            </a:extLst>
          </p:cNvPr>
          <p:cNvSpPr txBox="1"/>
          <p:nvPr/>
        </p:nvSpPr>
        <p:spPr>
          <a:xfrm>
            <a:off x="5134708" y="2403234"/>
            <a:ext cx="59600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+mj-lt"/>
              </a:rPr>
              <a:t>IR.T </a:t>
            </a:r>
          </a:p>
          <a:p>
            <a:pPr algn="ctr"/>
            <a:r>
              <a:rPr lang="en-US" sz="6000" b="1" dirty="0">
                <a:latin typeface="+mj-lt"/>
              </a:rPr>
              <a:t>PRESENTATION </a:t>
            </a:r>
          </a:p>
        </p:txBody>
      </p:sp>
    </p:spTree>
    <p:extLst>
      <p:ext uri="{BB962C8B-B14F-4D97-AF65-F5344CB8AC3E}">
        <p14:creationId xmlns:p14="http://schemas.microsoft.com/office/powerpoint/2010/main" val="1098189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467833"/>
            <a:ext cx="7071536" cy="17384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proposition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98" y="2144840"/>
            <a:ext cx="6571807" cy="4118345"/>
          </a:xfrm>
        </p:spPr>
        <p:txBody>
          <a:bodyPr vert="horz" lIns="91440" tIns="45720" rIns="91440" bIns="45720" rtlCol="0">
            <a:normAutofit/>
          </a:bodyPr>
          <a:lstStyle/>
          <a:p>
            <a:pPr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Smart headphones offering self-guided audio tours in museums and  archaeological sites.</a:t>
            </a:r>
          </a:p>
          <a:p>
            <a:pPr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Replaces traditional tour guides with immersive, multilingual storytelling.</a:t>
            </a:r>
          </a:p>
          <a:p>
            <a:pPr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QR codes provide instant access to historical audio content.</a:t>
            </a:r>
          </a:p>
          <a:p>
            <a:pPr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Works offline for use in low-connection areas.</a:t>
            </a:r>
          </a:p>
          <a:p>
            <a:pPr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Modern, personalized cultural tourism experience with rental or purchase options.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5" name="Picture Placeholder 6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3"/>
          <a:stretch>
            <a:fillRect/>
          </a:stretch>
        </p:blipFill>
        <p:spPr>
          <a:xfrm>
            <a:off x="7613102" y="10"/>
            <a:ext cx="4578898" cy="6857990"/>
          </a:xfrm>
          <a:custGeom>
            <a:avLst/>
            <a:gdLst/>
            <a:ahLst/>
            <a:cxnLst/>
            <a:rect l="l" t="t" r="r" b="b"/>
            <a:pathLst>
              <a:path w="4578898" h="6844352">
                <a:moveTo>
                  <a:pt x="2085784" y="0"/>
                </a:moveTo>
                <a:lnTo>
                  <a:pt x="4578898" y="0"/>
                </a:lnTo>
                <a:lnTo>
                  <a:pt x="4578898" y="6844352"/>
                </a:lnTo>
                <a:lnTo>
                  <a:pt x="0" y="6844352"/>
                </a:lnTo>
                <a:close/>
              </a:path>
            </a:pathLst>
          </a:custGeom>
        </p:spPr>
      </p:pic>
      <p:pic>
        <p:nvPicPr>
          <p:cNvPr id="4" name="Picture 3" descr="A gold and black drawing of a person wearing headphones&#10;&#10;AI-generated content may be incorrect.">
            <a:extLst>
              <a:ext uri="{FF2B5EF4-FFF2-40B4-BE49-F238E27FC236}">
                <a16:creationId xmlns:a16="http://schemas.microsoft.com/office/drawing/2014/main" id="{E49F4B1D-08FD-B3D4-F39B-667CE92BF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0" y="120038"/>
            <a:ext cx="906110" cy="9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old and blue mask in a glass case&#10;&#10;AI-generated content may be incorrect.">
            <a:extLst>
              <a:ext uri="{FF2B5EF4-FFF2-40B4-BE49-F238E27FC236}">
                <a16:creationId xmlns:a16="http://schemas.microsoft.com/office/drawing/2014/main" id="{D1AE8BAF-0F1E-9102-E12B-761B04F180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447" y="0"/>
            <a:ext cx="16273496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85501D-9C72-5A48-CD2A-F919A8D4EAC4}"/>
              </a:ext>
            </a:extLst>
          </p:cNvPr>
          <p:cNvSpPr txBox="1"/>
          <p:nvPr/>
        </p:nvSpPr>
        <p:spPr>
          <a:xfrm>
            <a:off x="-1370086" y="2921168"/>
            <a:ext cx="81357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054FA3-287C-064D-2CCE-5BB85F5A32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904697"/>
              </p:ext>
            </p:extLst>
          </p:nvPr>
        </p:nvGraphicFramePr>
        <p:xfrm>
          <a:off x="-54501" y="472857"/>
          <a:ext cx="12099147" cy="5912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D52C46-80AF-D8ED-8458-9AA4C38552B1}"/>
              </a:ext>
            </a:extLst>
          </p:cNvPr>
          <p:cNvSpPr txBox="1"/>
          <p:nvPr/>
        </p:nvSpPr>
        <p:spPr>
          <a:xfrm>
            <a:off x="28577" y="1228312"/>
            <a:ext cx="117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9B774-20FB-9CD4-4FD8-6A801014EDFE}"/>
              </a:ext>
            </a:extLst>
          </p:cNvPr>
          <p:cNvSpPr txBox="1"/>
          <p:nvPr/>
        </p:nvSpPr>
        <p:spPr>
          <a:xfrm>
            <a:off x="493281" y="3763779"/>
            <a:ext cx="1265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Target </a:t>
            </a:r>
          </a:p>
          <a:p>
            <a:pPr algn="ctr"/>
            <a:r>
              <a:rPr lang="en-US" b="1" dirty="0"/>
              <a:t>Audience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DF304-7B19-1A5C-C1AF-3CE4CABB4A35}"/>
              </a:ext>
            </a:extLst>
          </p:cNvPr>
          <p:cNvSpPr txBox="1"/>
          <p:nvPr/>
        </p:nvSpPr>
        <p:spPr>
          <a:xfrm>
            <a:off x="376142" y="2582869"/>
            <a:ext cx="149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MISSION</a:t>
            </a:r>
          </a:p>
        </p:txBody>
      </p:sp>
      <p:pic>
        <p:nvPicPr>
          <p:cNvPr id="7" name="Picture 6" descr="A gold and black drawing of a person wearing headphones&#10;&#10;AI-generated content may be incorrect.">
            <a:extLst>
              <a:ext uri="{FF2B5EF4-FFF2-40B4-BE49-F238E27FC236}">
                <a16:creationId xmlns:a16="http://schemas.microsoft.com/office/drawing/2014/main" id="{F798BDE5-6E53-43ED-2FF7-2288C498A6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915" y="71590"/>
            <a:ext cx="799948" cy="79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D3D600-B5C0-44D5-DB96-92661EF1B55E}"/>
              </a:ext>
            </a:extLst>
          </p:cNvPr>
          <p:cNvSpPr txBox="1"/>
          <p:nvPr/>
        </p:nvSpPr>
        <p:spPr>
          <a:xfrm>
            <a:off x="-73283" y="5145254"/>
            <a:ext cx="134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2274329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52FA12-1665-48C1-5A53-C0E524D8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E76362-7662-A954-7B27-FF22F5D147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23383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8D3D14-BE99-95D5-A404-CE05F70A9ED5}"/>
              </a:ext>
            </a:extLst>
          </p:cNvPr>
          <p:cNvSpPr txBox="1"/>
          <p:nvPr/>
        </p:nvSpPr>
        <p:spPr>
          <a:xfrm>
            <a:off x="3602338" y="630704"/>
            <a:ext cx="81357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Content </a:t>
            </a:r>
          </a:p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                           Creation </a:t>
            </a:r>
          </a:p>
        </p:txBody>
      </p:sp>
    </p:spTree>
    <p:extLst>
      <p:ext uri="{BB962C8B-B14F-4D97-AF65-F5344CB8AC3E}">
        <p14:creationId xmlns:p14="http://schemas.microsoft.com/office/powerpoint/2010/main" val="35209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06CAAD-724D-1CFA-22DC-3801239F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0C6A03D-FB82-13FE-B808-19A2BF52EB37}"/>
              </a:ext>
            </a:extLst>
          </p:cNvPr>
          <p:cNvSpPr>
            <a:spLocks/>
          </p:cNvSpPr>
          <p:nvPr/>
        </p:nvSpPr>
        <p:spPr>
          <a:xfrm>
            <a:off x="764988" y="567765"/>
            <a:ext cx="1864660" cy="1464235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B3F64-4F69-DB00-4794-B8B2D969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88" y="841743"/>
            <a:ext cx="1935516" cy="810578"/>
          </a:xfrm>
          <a:noFill/>
        </p:spPr>
        <p:txBody>
          <a:bodyPr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800" b="1" cap="none" dirty="0">
                <a:ln/>
                <a:solidFill>
                  <a:schemeClr val="bg1"/>
                </a:solidFill>
              </a:rPr>
              <a:t>STEP 1 : </a:t>
            </a:r>
            <a:br>
              <a:rPr lang="en-US" sz="1800" b="1" cap="none" dirty="0">
                <a:ln/>
                <a:solidFill>
                  <a:schemeClr val="bg1"/>
                </a:solidFill>
              </a:rPr>
            </a:br>
            <a:r>
              <a:rPr lang="en-US" sz="1800" b="1" cap="none" dirty="0">
                <a:ln/>
                <a:solidFill>
                  <a:schemeClr val="bg1"/>
                </a:solidFill>
              </a:rPr>
              <a:t>Research &amp; Planning Phase</a:t>
            </a:r>
          </a:p>
        </p:txBody>
      </p:sp>
      <p:sp>
        <p:nvSpPr>
          <p:cNvPr id="6" name="Flowchart: Stored Data 5">
            <a:extLst>
              <a:ext uri="{FF2B5EF4-FFF2-40B4-BE49-F238E27FC236}">
                <a16:creationId xmlns:a16="http://schemas.microsoft.com/office/drawing/2014/main" id="{1BDD6B90-2D96-9E1E-ECF0-F60E5F01F5D0}"/>
              </a:ext>
            </a:extLst>
          </p:cNvPr>
          <p:cNvSpPr>
            <a:spLocks/>
          </p:cNvSpPr>
          <p:nvPr/>
        </p:nvSpPr>
        <p:spPr>
          <a:xfrm flipH="1">
            <a:off x="2076392" y="567765"/>
            <a:ext cx="8409755" cy="1506070"/>
          </a:xfrm>
          <a:prstGeom prst="flowChartOnlineStorag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GOAL: Understanding the site and audience to design a well-structured tour with clear key stops and defined timing.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14AFF9-D2BE-F74D-B3DF-86BFC37E91B3}"/>
              </a:ext>
            </a:extLst>
          </p:cNvPr>
          <p:cNvSpPr>
            <a:spLocks/>
          </p:cNvSpPr>
          <p:nvPr/>
        </p:nvSpPr>
        <p:spPr>
          <a:xfrm>
            <a:off x="800416" y="2711824"/>
            <a:ext cx="1864660" cy="1464235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Stored Data 8">
            <a:extLst>
              <a:ext uri="{FF2B5EF4-FFF2-40B4-BE49-F238E27FC236}">
                <a16:creationId xmlns:a16="http://schemas.microsoft.com/office/drawing/2014/main" id="{96D19C66-1590-E08F-375C-F15D2DD48FB3}"/>
              </a:ext>
            </a:extLst>
          </p:cNvPr>
          <p:cNvSpPr>
            <a:spLocks/>
          </p:cNvSpPr>
          <p:nvPr/>
        </p:nvSpPr>
        <p:spPr>
          <a:xfrm flipH="1">
            <a:off x="2111820" y="2711824"/>
            <a:ext cx="8409755" cy="1506070"/>
          </a:xfrm>
          <a:prstGeom prst="flowChartOnlineStorag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GOAL: Creating engaging, simple, story-driven audio scripts enriched with interesting facts and timed for clear, concise delivery.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A515060-076E-C22E-0ECD-E537FF20A05B}"/>
              </a:ext>
            </a:extLst>
          </p:cNvPr>
          <p:cNvSpPr txBox="1">
            <a:spLocks/>
          </p:cNvSpPr>
          <p:nvPr/>
        </p:nvSpPr>
        <p:spPr>
          <a:xfrm>
            <a:off x="764988" y="2926213"/>
            <a:ext cx="1935516" cy="810578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cap="none" dirty="0">
                <a:ln/>
                <a:solidFill>
                  <a:schemeClr val="bg1"/>
                </a:solidFill>
              </a:rPr>
              <a:t>STEP 2 : </a:t>
            </a:r>
            <a:br>
              <a:rPr lang="en-US" sz="1800" b="1" cap="none" dirty="0">
                <a:ln/>
                <a:solidFill>
                  <a:schemeClr val="bg1"/>
                </a:solidFill>
              </a:rPr>
            </a:br>
            <a:r>
              <a:rPr lang="en-US" sz="1800" b="1" cap="none" dirty="0">
                <a:ln/>
                <a:solidFill>
                  <a:schemeClr val="bg1"/>
                </a:solidFill>
              </a:rPr>
              <a:t>Scriptwriting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E22CB0-1180-7ED3-6364-B17CEC4F21CA}"/>
              </a:ext>
            </a:extLst>
          </p:cNvPr>
          <p:cNvSpPr>
            <a:spLocks/>
          </p:cNvSpPr>
          <p:nvPr/>
        </p:nvSpPr>
        <p:spPr>
          <a:xfrm>
            <a:off x="800416" y="4855883"/>
            <a:ext cx="1864660" cy="1464235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52AF7D-6D80-83A8-E094-FB0DC564A747}"/>
              </a:ext>
            </a:extLst>
          </p:cNvPr>
          <p:cNvSpPr txBox="1">
            <a:spLocks/>
          </p:cNvSpPr>
          <p:nvPr/>
        </p:nvSpPr>
        <p:spPr>
          <a:xfrm>
            <a:off x="764988" y="5168879"/>
            <a:ext cx="1935516" cy="810578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cap="none" dirty="0">
                <a:ln/>
                <a:solidFill>
                  <a:schemeClr val="bg1"/>
                </a:solidFill>
              </a:rPr>
              <a:t>STEP 3 : </a:t>
            </a:r>
            <a:br>
              <a:rPr lang="en-US" sz="1800" b="1" cap="none" dirty="0">
                <a:ln/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Audio Production</a:t>
            </a:r>
            <a:r>
              <a:rPr lang="en-US" sz="1800" b="1" cap="none" dirty="0">
                <a:ln/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Flowchart: Stored Data 14">
            <a:extLst>
              <a:ext uri="{FF2B5EF4-FFF2-40B4-BE49-F238E27FC236}">
                <a16:creationId xmlns:a16="http://schemas.microsoft.com/office/drawing/2014/main" id="{528738BC-C6FD-BDA5-DC80-E3D645ED9DD5}"/>
              </a:ext>
            </a:extLst>
          </p:cNvPr>
          <p:cNvSpPr>
            <a:spLocks/>
          </p:cNvSpPr>
          <p:nvPr/>
        </p:nvSpPr>
        <p:spPr>
          <a:xfrm flipH="1">
            <a:off x="2111820" y="4855883"/>
            <a:ext cx="8409755" cy="1506070"/>
          </a:xfrm>
          <a:prstGeom prst="flowChartOnlineStorag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GOAL: Creating engaging, simple, story-driven audio scripts enriched with interesting facts and timed for clear, concise delivery.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11D114-0B4B-0591-9C4D-B7100C01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56" y="5914151"/>
            <a:ext cx="908383" cy="9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28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6" grpId="0" animBg="1"/>
      <p:bldP spid="7" grpId="0" animBg="1"/>
      <p:bldP spid="9" grpId="0" animBg="1"/>
      <p:bldP spid="11" grpId="0"/>
      <p:bldP spid="13" grpId="0" animBg="1"/>
      <p:bldP spid="14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191D5A-2CB7-4F6E-07DE-19FB757F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AF1CFC5-3A8B-60BD-394F-AF6FCAD76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56" y="5914151"/>
            <a:ext cx="908383" cy="90228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75AADDD-ADD3-F143-059F-3F7EDF5E3D79}"/>
              </a:ext>
            </a:extLst>
          </p:cNvPr>
          <p:cNvSpPr/>
          <p:nvPr/>
        </p:nvSpPr>
        <p:spPr>
          <a:xfrm>
            <a:off x="971988" y="929491"/>
            <a:ext cx="1864660" cy="1464235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DB122D8-C1B6-41C3-4832-E87B5DC8EE87}"/>
              </a:ext>
            </a:extLst>
          </p:cNvPr>
          <p:cNvSpPr txBox="1">
            <a:spLocks/>
          </p:cNvSpPr>
          <p:nvPr/>
        </p:nvSpPr>
        <p:spPr>
          <a:xfrm>
            <a:off x="936132" y="1161632"/>
            <a:ext cx="1935516" cy="810578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cap="none" dirty="0">
                <a:ln/>
                <a:solidFill>
                  <a:schemeClr val="bg1"/>
                </a:solidFill>
              </a:rPr>
              <a:t>STEP 4 : </a:t>
            </a:r>
            <a:br>
              <a:rPr lang="en-US" sz="1800" b="1" cap="none" dirty="0">
                <a:ln/>
                <a:solidFill>
                  <a:schemeClr val="bg1"/>
                </a:solidFill>
              </a:rPr>
            </a:br>
            <a:r>
              <a:rPr lang="en-US" sz="1800" b="1" cap="none" dirty="0">
                <a:ln/>
                <a:solidFill>
                  <a:schemeClr val="bg1"/>
                </a:solidFill>
              </a:rPr>
              <a:t>Design &amp; Visual</a:t>
            </a:r>
          </a:p>
        </p:txBody>
      </p:sp>
      <p:sp>
        <p:nvSpPr>
          <p:cNvPr id="8" name="Flowchart: Stored Data 7">
            <a:extLst>
              <a:ext uri="{FF2B5EF4-FFF2-40B4-BE49-F238E27FC236}">
                <a16:creationId xmlns:a16="http://schemas.microsoft.com/office/drawing/2014/main" id="{B1E12505-39DF-DBD3-B210-A2BA6FBDC48F}"/>
              </a:ext>
            </a:extLst>
          </p:cNvPr>
          <p:cNvSpPr/>
          <p:nvPr/>
        </p:nvSpPr>
        <p:spPr>
          <a:xfrm flipH="1">
            <a:off x="2283392" y="929491"/>
            <a:ext cx="8409755" cy="1506070"/>
          </a:xfrm>
          <a:prstGeom prst="flowChartOnlineStorag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accent3">
                    <a:lumMod val="50000"/>
                  </a:schemeClr>
                </a:solidFill>
              </a:rPr>
              <a:t>GOAL: Enhancing the audio tour with supportive visual materials like photos, QR codes, and simple illustrations for easier navigation and engagement.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A6FC67-CF69-DC11-6677-764B8DEEB4C0}"/>
              </a:ext>
            </a:extLst>
          </p:cNvPr>
          <p:cNvSpPr/>
          <p:nvPr/>
        </p:nvSpPr>
        <p:spPr>
          <a:xfrm>
            <a:off x="971988" y="3940654"/>
            <a:ext cx="1864660" cy="1464235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Stored Data 11">
            <a:extLst>
              <a:ext uri="{FF2B5EF4-FFF2-40B4-BE49-F238E27FC236}">
                <a16:creationId xmlns:a16="http://schemas.microsoft.com/office/drawing/2014/main" id="{1EC3F234-3E28-7062-060E-4A4FA9800B5A}"/>
              </a:ext>
            </a:extLst>
          </p:cNvPr>
          <p:cNvSpPr/>
          <p:nvPr/>
        </p:nvSpPr>
        <p:spPr>
          <a:xfrm flipH="1">
            <a:off x="2283392" y="3940654"/>
            <a:ext cx="8409755" cy="1506070"/>
          </a:xfrm>
          <a:prstGeom prst="flowChartOnlineStorag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accent3">
                    <a:lumMod val="50000"/>
                  </a:schemeClr>
                </a:solidFill>
              </a:rPr>
              <a:t>GOAL: Testing the tour with real users to ensure clear, accurate, user-friendly audio content, then refining it based on feedback.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C91D31-4727-8450-9F94-6D6C73DCAE2E}"/>
              </a:ext>
            </a:extLst>
          </p:cNvPr>
          <p:cNvSpPr txBox="1">
            <a:spLocks/>
          </p:cNvSpPr>
          <p:nvPr/>
        </p:nvSpPr>
        <p:spPr>
          <a:xfrm>
            <a:off x="936560" y="4274571"/>
            <a:ext cx="1935516" cy="810578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cap="none" dirty="0">
                <a:ln/>
                <a:solidFill>
                  <a:schemeClr val="bg1"/>
                </a:solidFill>
              </a:rPr>
              <a:t>STEP 5 : </a:t>
            </a:r>
            <a:br>
              <a:rPr lang="en-US" sz="1800" b="1" cap="none" dirty="0">
                <a:ln/>
                <a:solidFill>
                  <a:schemeClr val="bg1"/>
                </a:solidFill>
              </a:rPr>
            </a:br>
            <a:r>
              <a:rPr lang="en-US" sz="1800" b="1" cap="none" dirty="0">
                <a:ln/>
                <a:solidFill>
                  <a:schemeClr val="bg1"/>
                </a:solidFill>
              </a:rPr>
              <a:t>Testing &amp; Review </a:t>
            </a:r>
          </a:p>
        </p:txBody>
      </p:sp>
    </p:spTree>
    <p:extLst>
      <p:ext uri="{BB962C8B-B14F-4D97-AF65-F5344CB8AC3E}">
        <p14:creationId xmlns:p14="http://schemas.microsoft.com/office/powerpoint/2010/main" val="144268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8" grpId="0" animBg="1"/>
      <p:bldP spid="10" grpId="0" animBg="1"/>
      <p:bldP spid="12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A423-3513-FB52-97A7-221E51BC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548867" y="2742661"/>
            <a:ext cx="9906000" cy="1382156"/>
          </a:xfrm>
          <a:effectLst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en-US" sz="3600" b="1"/>
              <a:t>Content</a:t>
            </a:r>
            <a:r>
              <a:rPr lang="en-US" b="1"/>
              <a:t> </a:t>
            </a:r>
            <a:r>
              <a:rPr lang="en-US" sz="3600" b="1"/>
              <a:t>Plan</a:t>
            </a:r>
            <a:endParaRPr lang="en-US" b="1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F99B7E9-079F-86D5-E26F-209C4CF4E5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929702"/>
              </p:ext>
            </p:extLst>
          </p:nvPr>
        </p:nvGraphicFramePr>
        <p:xfrm>
          <a:off x="962584" y="133266"/>
          <a:ext cx="10788749" cy="665294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801794">
                  <a:extLst>
                    <a:ext uri="{9D8B030D-6E8A-4147-A177-3AD203B41FA5}">
                      <a16:colId xmlns:a16="http://schemas.microsoft.com/office/drawing/2014/main" val="2824104190"/>
                    </a:ext>
                  </a:extLst>
                </a:gridCol>
                <a:gridCol w="1797391">
                  <a:extLst>
                    <a:ext uri="{9D8B030D-6E8A-4147-A177-3AD203B41FA5}">
                      <a16:colId xmlns:a16="http://schemas.microsoft.com/office/drawing/2014/main" val="3189959435"/>
                    </a:ext>
                  </a:extLst>
                </a:gridCol>
                <a:gridCol w="1797391">
                  <a:extLst>
                    <a:ext uri="{9D8B030D-6E8A-4147-A177-3AD203B41FA5}">
                      <a16:colId xmlns:a16="http://schemas.microsoft.com/office/drawing/2014/main" val="165078198"/>
                    </a:ext>
                  </a:extLst>
                </a:gridCol>
                <a:gridCol w="1797391">
                  <a:extLst>
                    <a:ext uri="{9D8B030D-6E8A-4147-A177-3AD203B41FA5}">
                      <a16:colId xmlns:a16="http://schemas.microsoft.com/office/drawing/2014/main" val="784244073"/>
                    </a:ext>
                  </a:extLst>
                </a:gridCol>
                <a:gridCol w="1797391">
                  <a:extLst>
                    <a:ext uri="{9D8B030D-6E8A-4147-A177-3AD203B41FA5}">
                      <a16:colId xmlns:a16="http://schemas.microsoft.com/office/drawing/2014/main" val="3503189836"/>
                    </a:ext>
                  </a:extLst>
                </a:gridCol>
                <a:gridCol w="1797391">
                  <a:extLst>
                    <a:ext uri="{9D8B030D-6E8A-4147-A177-3AD203B41FA5}">
                      <a16:colId xmlns:a16="http://schemas.microsoft.com/office/drawing/2014/main" val="54287779"/>
                    </a:ext>
                  </a:extLst>
                </a:gridCol>
              </a:tblGrid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CC"/>
                          </a:solidFill>
                        </a:rPr>
                        <a:t>CAMPAIGN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CC"/>
                          </a:solidFill>
                        </a:rPr>
                        <a:t>MARKET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CC"/>
                          </a:solidFill>
                        </a:rPr>
                        <a:t>SCHEDULE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CC"/>
                          </a:solidFill>
                        </a:rPr>
                        <a:t>CONTENT TYPE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CC"/>
                          </a:solidFill>
                        </a:rPr>
                        <a:t>Caption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CC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29043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can you hear it?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07 Oct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Stay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780940"/>
                  </a:ext>
                </a:extLst>
              </a:tr>
              <a:tr h="49831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Cover photo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10 Oct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59400A"/>
                          </a:solidFill>
                        </a:rPr>
                        <a:t>Wish your museum visit felt like a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Facebook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122437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I.RT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10 Oct 2025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🎥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59400A"/>
                          </a:solidFill>
                        </a:rPr>
                        <a:t>IR.T = The Eye of Horus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159011"/>
                  </a:ext>
                </a:extLst>
              </a:tr>
              <a:tr h="49831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I.RT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1</a:t>
                      </a:r>
                      <a:r>
                        <a:rPr lang="ar-EG">
                          <a:solidFill>
                            <a:srgbClr val="59400A"/>
                          </a:solidFill>
                        </a:rPr>
                        <a:t>5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Oct 2025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1400">
                          <a:solidFill>
                            <a:srgbClr val="59400A"/>
                          </a:solidFill>
                        </a:rPr>
                        <a:t>!يتكلم </a:t>
                      </a:r>
                      <a:r>
                        <a:rPr lang="ar-EG" sz="1400" err="1">
                          <a:solidFill>
                            <a:srgbClr val="59400A"/>
                          </a:solidFill>
                        </a:rPr>
                        <a:t>هيبدأ</a:t>
                      </a:r>
                      <a:r>
                        <a:rPr lang="ar-EG" sz="1400">
                          <a:solidFill>
                            <a:srgbClr val="59400A"/>
                          </a:solidFill>
                        </a:rPr>
                        <a:t> والتاريخ أيام 5 فاضل</a:t>
                      </a:r>
                      <a:endParaRPr lang="en-US" sz="1400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13557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GEM Countdown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>
                          <a:solidFill>
                            <a:srgbClr val="59400A"/>
                          </a:solidFill>
                        </a:rPr>
                        <a:t>27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Oct 2025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59400A"/>
                          </a:solidFill>
                        </a:rPr>
                        <a:t>countdown for 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776410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GEM Countdown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>
                          <a:solidFill>
                            <a:srgbClr val="59400A"/>
                          </a:solidFill>
                        </a:rPr>
                        <a:t>27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Oct 2025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noProof="0">
                          <a:solidFill>
                            <a:srgbClr val="59400A"/>
                          </a:solidFill>
                          <a:latin typeface="Univers Condensed Light"/>
                        </a:rPr>
                        <a:t>🎥Reel</a:t>
                      </a:r>
                      <a:endParaRPr lang="en-US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59400A"/>
                          </a:solidFill>
                        </a:rPr>
                        <a:t>very soon</a:t>
                      </a:r>
                      <a:r>
                        <a:rPr lang="ar-EG" sz="1400" dirty="0">
                          <a:solidFill>
                            <a:srgbClr val="59400A"/>
                          </a:solidFill>
                        </a:rPr>
                        <a:t>الافتتاح </a:t>
                      </a:r>
                      <a:r>
                        <a:rPr lang="en-US" sz="1400" dirty="0">
                          <a:solidFill>
                            <a:srgbClr val="59400A"/>
                          </a:solidFill>
                        </a:rPr>
                        <a:t>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Instagram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379821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GEM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>
                          <a:solidFill>
                            <a:srgbClr val="59400A"/>
                          </a:solidFill>
                        </a:rPr>
                        <a:t>31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Oct 2025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59400A"/>
                          </a:solidFill>
                          <a:latin typeface="Univers Condensed Light"/>
                        </a:rPr>
                        <a:t>📱STORY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59400A"/>
                          </a:solidFill>
                        </a:rPr>
                        <a:t>GEM now is open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381601"/>
                  </a:ext>
                </a:extLst>
              </a:tr>
              <a:tr h="61557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01 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  <a:p>
                      <a:pPr algn="ctr"/>
                      <a:endParaRPr lang="en-US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b="1" dirty="0" err="1">
                          <a:solidFill>
                            <a:srgbClr val="59400A"/>
                          </a:solidFill>
                        </a:rPr>
                        <a:t>التى</a:t>
                      </a:r>
                      <a:r>
                        <a:rPr lang="ar-EG" sz="1200" b="1" dirty="0">
                          <a:solidFill>
                            <a:srgbClr val="59400A"/>
                          </a:solidFill>
                        </a:rPr>
                        <a:t> من اجلها تشرق الشمس</a:t>
                      </a:r>
                      <a:endParaRPr lang="en-US" sz="1200" b="1" dirty="0">
                        <a:solidFill>
                          <a:srgbClr val="59400A"/>
                        </a:solidFill>
                      </a:endParaRPr>
                    </a:p>
                    <a:p>
                      <a:pPr algn="ctr"/>
                      <a:endParaRPr lang="en-US" sz="1400" dirty="0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FACEBOOK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892314"/>
                  </a:ext>
                </a:extLst>
              </a:tr>
              <a:tr h="55694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59400A"/>
                          </a:solidFill>
                        </a:rPr>
                        <a:t>GEM media coverage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0</a:t>
                      </a:r>
                      <a:r>
                        <a:rPr lang="ar-EG">
                          <a:solidFill>
                            <a:srgbClr val="59400A"/>
                          </a:solidFill>
                        </a:rPr>
                        <a:t>2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59400A"/>
                          </a:solidFill>
                          <a:latin typeface="Univers Condensed Light"/>
                        </a:rPr>
                        <a:t>🎥Video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1400">
                          <a:solidFill>
                            <a:srgbClr val="59400A"/>
                          </a:solidFill>
                        </a:rPr>
                        <a:t>ها عرفت مين ملك</a:t>
                      </a:r>
                      <a:endParaRPr lang="en-US" sz="1400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Facebook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468846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Guess the 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0</a:t>
                      </a:r>
                      <a:r>
                        <a:rPr lang="ar-EG">
                          <a:solidFill>
                            <a:srgbClr val="59400A"/>
                          </a:solidFill>
                        </a:rPr>
                        <a:t>2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59400A"/>
                          </a:solidFill>
                          <a:latin typeface="Univers Condensed Light"/>
                        </a:rPr>
                        <a:t>🖼️ Post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Univers Condensed Light"/>
                      </a:endParaRPr>
                    </a:p>
                    <a:p>
                      <a:pPr lvl="0" algn="ctr">
                        <a:buNone/>
                      </a:pPr>
                      <a:endParaRPr lang="en-US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400">
                          <a:solidFill>
                            <a:srgbClr val="59400A"/>
                          </a:solidFill>
                        </a:rPr>
                        <a:t>تخمينكم كان صح</a:t>
                      </a:r>
                      <a:endParaRPr lang="en-US" sz="1400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979838"/>
                  </a:ext>
                </a:extLst>
              </a:tr>
              <a:tr h="55694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King TUT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0</a:t>
                      </a:r>
                      <a:r>
                        <a:rPr lang="ar-EG">
                          <a:solidFill>
                            <a:srgbClr val="59400A"/>
                          </a:solidFill>
                        </a:rPr>
                        <a:t>3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400">
                          <a:solidFill>
                            <a:srgbClr val="59400A"/>
                          </a:solidFill>
                        </a:rPr>
                        <a:t>الملك </a:t>
                      </a:r>
                      <a:r>
                        <a:rPr lang="ar-EG" sz="1400" err="1">
                          <a:solidFill>
                            <a:srgbClr val="59400A"/>
                          </a:solidFill>
                        </a:rPr>
                        <a:t>الذهبى</a:t>
                      </a:r>
                      <a:endParaRPr lang="en-US" sz="1400" err="1">
                        <a:solidFill>
                          <a:srgbClr val="59400A"/>
                        </a:solidFill>
                      </a:endParaRPr>
                    </a:p>
                    <a:p>
                      <a:pPr algn="ctr"/>
                      <a:endParaRPr lang="en-US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06757"/>
                  </a:ext>
                </a:extLst>
              </a:tr>
              <a:tr h="61557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King TUT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0</a:t>
                      </a:r>
                      <a:r>
                        <a:rPr lang="ar-EG">
                          <a:solidFill>
                            <a:srgbClr val="59400A"/>
                          </a:solidFill>
                        </a:rPr>
                        <a:t>8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🎥 Reel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59400A"/>
                          </a:solidFill>
                        </a:rPr>
                        <a:t>Still iconic </a:t>
                      </a:r>
                    </a:p>
                    <a:p>
                      <a:pPr algn="ctr"/>
                      <a:endParaRPr lang="en-US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950149"/>
                  </a:ext>
                </a:extLst>
              </a:tr>
              <a:tr h="35175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Meta 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Egypt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>
                          <a:solidFill>
                            <a:srgbClr val="59400A"/>
                          </a:solidFill>
                        </a:rPr>
                        <a:t>10</a:t>
                      </a:r>
                      <a:r>
                        <a:rPr lang="en-US">
                          <a:solidFill>
                            <a:srgbClr val="59400A"/>
                          </a:solidFill>
                        </a:rPr>
                        <a:t> 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9400A"/>
                          </a:solidFill>
                        </a:rPr>
                        <a:t>🖼️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dirty="0">
                          <a:solidFill>
                            <a:srgbClr val="59400A"/>
                          </a:solidFill>
                        </a:rPr>
                        <a:t>مش مجرد سماعة</a:t>
                      </a:r>
                      <a:endParaRPr lang="en-US" dirty="0">
                        <a:solidFill>
                          <a:srgbClr val="5940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59400A"/>
                          </a:solidFill>
                        </a:rPr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05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922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A3730CBC-0B5E-5837-C4AF-545052A86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177" y="965200"/>
            <a:ext cx="8909645" cy="4832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B08AE4-E771-E577-6876-1CB617FBF011}"/>
              </a:ext>
            </a:extLst>
          </p:cNvPr>
          <p:cNvSpPr txBox="1"/>
          <p:nvPr/>
        </p:nvSpPr>
        <p:spPr>
          <a:xfrm>
            <a:off x="2460625" y="133350"/>
            <a:ext cx="7270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u="sng" dirty="0">
                <a:latin typeface="+mj-lt"/>
              </a:rPr>
              <a:t>ONE OF OUR POSTS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A3CBC-680E-36EC-663C-CD00EB1E687B}"/>
              </a:ext>
            </a:extLst>
          </p:cNvPr>
          <p:cNvSpPr txBox="1"/>
          <p:nvPr/>
        </p:nvSpPr>
        <p:spPr>
          <a:xfrm>
            <a:off x="2392361" y="6154519"/>
            <a:ext cx="740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https://www.instagram.com/p/DPooSBYiOSQ/?igsh=MnI2YjVoZmdjYmtl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40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5ABCA-0FFC-7627-47F8-AF24739D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22D9-FBC1-61FA-F300-69C6CFDC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948" y="-224798"/>
            <a:ext cx="6602104" cy="16838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b="1" u="sng" dirty="0"/>
              <a:t>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25AF9-E8BA-524C-0186-E4E8F4AC79B1}"/>
              </a:ext>
            </a:extLst>
          </p:cNvPr>
          <p:cNvSpPr txBox="1"/>
          <p:nvPr/>
        </p:nvSpPr>
        <p:spPr>
          <a:xfrm>
            <a:off x="219650" y="5117088"/>
            <a:ext cx="5876350" cy="1549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algn="ctr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We tested IR.T with real international visitors, not just ideas. Tourists shared their needs and reactions during on-site interviews.</a:t>
            </a:r>
          </a:p>
          <a:p>
            <a:pPr indent="-228600" algn="ctr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Visitors from different countries preferred audio storytelling over reading texts. Many highlighted language clarity and freedom of movement as key benefits.</a:t>
            </a:r>
            <a:endParaRPr lang="ar-EG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A44DD-62EB-E731-8987-3643EC3D4F11}"/>
              </a:ext>
            </a:extLst>
          </p:cNvPr>
          <p:cNvSpPr txBox="1"/>
          <p:nvPr/>
        </p:nvSpPr>
        <p:spPr>
          <a:xfrm>
            <a:off x="2412703" y="1038251"/>
            <a:ext cx="7366594" cy="965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Aft>
                <a:spcPts val="600"/>
              </a:spcAft>
              <a:buSzPct val="80000"/>
            </a:pPr>
            <a:r>
              <a:rPr lang="en-US" b="1" dirty="0">
                <a:solidFill>
                  <a:schemeClr val="tx2"/>
                </a:solidFill>
              </a:rPr>
              <a:t>We engaged real visitors during the GEM opening to observe how they interact with historical content.</a:t>
            </a:r>
            <a:r>
              <a:rPr lang="ar-EG"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The survey confirmed strong interest in interactive, multilingual audio experiences.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034834-2EE8-DB4B-05E2-DB787F9FA820}"/>
              </a:ext>
            </a:extLst>
          </p:cNvPr>
          <p:cNvSpPr/>
          <p:nvPr/>
        </p:nvSpPr>
        <p:spPr>
          <a:xfrm>
            <a:off x="8302333" y="1824592"/>
            <a:ext cx="2733165" cy="3208816"/>
          </a:xfrm>
          <a:prstGeom prst="roundRect">
            <a:avLst>
              <a:gd name="adj" fmla="val 2661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73A25A-4FA6-8D5E-40C2-7253AACAF3DA}"/>
              </a:ext>
            </a:extLst>
          </p:cNvPr>
          <p:cNvSpPr/>
          <p:nvPr/>
        </p:nvSpPr>
        <p:spPr>
          <a:xfrm>
            <a:off x="1428365" y="1824592"/>
            <a:ext cx="2733165" cy="3208816"/>
          </a:xfrm>
          <a:prstGeom prst="roundRect">
            <a:avLst>
              <a:gd name="adj" fmla="val 26618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B7A1F-046A-FAC4-CB7F-0FD8F221FDC3}"/>
              </a:ext>
            </a:extLst>
          </p:cNvPr>
          <p:cNvSpPr txBox="1"/>
          <p:nvPr/>
        </p:nvSpPr>
        <p:spPr>
          <a:xfrm>
            <a:off x="7145833" y="5117088"/>
            <a:ext cx="5046167" cy="120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Aft>
                <a:spcPts val="600"/>
              </a:spcAft>
              <a:buSzPct val="80000"/>
            </a:pPr>
            <a:r>
              <a:rPr lang="en-US" b="1" dirty="0">
                <a:solidFill>
                  <a:schemeClr val="tx2"/>
                </a:solidFill>
              </a:rPr>
              <a:t>Kids Mode Validation : </a:t>
            </a:r>
            <a:r>
              <a:rPr lang="en-US" dirty="0">
                <a:solidFill>
                  <a:schemeClr val="tx2"/>
                </a:solidFill>
              </a:rPr>
              <a:t>IR.T includes children’s voice narration to create an emotional connection with history. Kids engaged faster and remembered more when stories matched their tone.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2CF7F-20D9-36FA-9AC3-C90087A7F085}"/>
              </a:ext>
            </a:extLst>
          </p:cNvPr>
          <p:cNvSpPr txBox="1"/>
          <p:nvPr/>
        </p:nvSpPr>
        <p:spPr>
          <a:xfrm>
            <a:off x="4465948" y="3145790"/>
            <a:ext cx="3602518" cy="9652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spcAft>
                <a:spcPts val="600"/>
              </a:spcAft>
              <a:buSzPct val="80000"/>
            </a:pPr>
            <a:r>
              <a:rPr lang="en-US" b="1" dirty="0">
                <a:ln/>
                <a:solidFill>
                  <a:schemeClr val="accent3"/>
                </a:solidFill>
              </a:rPr>
              <a:t> Watch a clip of the interviews: </a:t>
            </a:r>
            <a:r>
              <a:rPr lang="en-US" b="1" dirty="0">
                <a:ln/>
                <a:solidFill>
                  <a:schemeClr val="accent3"/>
                </a:solidFill>
                <a:hlinkClick r:id="rId6"/>
              </a:rPr>
              <a:t>https://drive.google.com/file/d/1SUt-IEd_7VWxnHe8USksI-88910coeSp/view?usp=sharing</a:t>
            </a:r>
            <a:r>
              <a:rPr lang="en-US" b="1" dirty="0">
                <a:ln/>
                <a:solidFill>
                  <a:schemeClr val="accent3"/>
                </a:solidFill>
              </a:rPr>
              <a:t>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D2126DE-3F26-97A8-F061-1907E41A2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3617" y="88898"/>
            <a:ext cx="908383" cy="9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59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9" grpId="0" animBg="1"/>
      <p:bldP spid="21" grpId="0" animBg="1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450511-3EA8-E1D1-7C46-2426D968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2EACAE4-96E4-8A41-5722-7B2586D91C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-23928" y="0"/>
            <a:ext cx="12239856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4A1CF2-4669-D40C-B270-C78B738A1452}"/>
              </a:ext>
            </a:extLst>
          </p:cNvPr>
          <p:cNvSpPr txBox="1"/>
          <p:nvPr/>
        </p:nvSpPr>
        <p:spPr>
          <a:xfrm>
            <a:off x="2049047" y="2828836"/>
            <a:ext cx="813573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+mj-lt"/>
              </a:rPr>
              <a:t>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81898-837C-8933-E0CD-977FCB33D685}"/>
              </a:ext>
            </a:extLst>
          </p:cNvPr>
          <p:cNvSpPr txBox="1"/>
          <p:nvPr/>
        </p:nvSpPr>
        <p:spPr>
          <a:xfrm>
            <a:off x="17905" y="6858000"/>
            <a:ext cx="121980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heartlight.org/articles/201904/20190407_unfair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782339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2C7F37-9CC8-C12A-5D8B-E78E846C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02A2-6B42-AFDA-98FF-AA9B5B0A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555" y="560849"/>
            <a:ext cx="9906000" cy="810578"/>
          </a:xfrm>
          <a:noFill/>
        </p:spPr>
        <p:txBody>
          <a:bodyPr/>
          <a:lstStyle/>
          <a:p>
            <a:r>
              <a:rPr lang="en-US" b="1"/>
              <a:t>SOCIAL MEDIA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EE3D0-F00F-9030-918D-4AD85A83D3B2}"/>
              </a:ext>
            </a:extLst>
          </p:cNvPr>
          <p:cNvSpPr txBox="1"/>
          <p:nvPr/>
        </p:nvSpPr>
        <p:spPr>
          <a:xfrm>
            <a:off x="229233" y="1613118"/>
            <a:ext cx="43308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 </a:t>
            </a:r>
            <a:r>
              <a:rPr lang="en-US" sz="2800" b="1"/>
              <a:t>1. Instagram</a:t>
            </a:r>
          </a:p>
          <a:p>
            <a:r>
              <a:rPr lang="en-US" sz="2800"/>
              <a:t>Total Views: 15,000</a:t>
            </a:r>
          </a:p>
          <a:p>
            <a:r>
              <a:rPr lang="en-US" sz="2800"/>
              <a:t>New Followers: 185</a:t>
            </a:r>
          </a:p>
          <a:p>
            <a:r>
              <a:rPr lang="en-US" sz="2800"/>
              <a:t>Content Interaction: 609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A0C39-9C73-68C3-36EF-6D430E851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784" y="156408"/>
            <a:ext cx="908383" cy="9022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303A88-BC5E-235F-0152-455B4DBB73A0}"/>
              </a:ext>
            </a:extLst>
          </p:cNvPr>
          <p:cNvSpPr txBox="1"/>
          <p:nvPr/>
        </p:nvSpPr>
        <p:spPr>
          <a:xfrm>
            <a:off x="4058024" y="1613118"/>
            <a:ext cx="38667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2. Facebook</a:t>
            </a:r>
          </a:p>
          <a:p>
            <a:r>
              <a:rPr lang="en-US" sz="2800"/>
              <a:t>New Followers: 85</a:t>
            </a:r>
          </a:p>
          <a:p>
            <a:r>
              <a:rPr lang="en-US" sz="2800"/>
              <a:t>Total Views: 40,000</a:t>
            </a:r>
          </a:p>
          <a:p>
            <a:r>
              <a:rPr lang="en-US" sz="2800"/>
              <a:t>Content Interaction: 373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39D1C-749C-191F-C9BF-398E37E08DD8}"/>
              </a:ext>
            </a:extLst>
          </p:cNvPr>
          <p:cNvSpPr txBox="1"/>
          <p:nvPr/>
        </p:nvSpPr>
        <p:spPr>
          <a:xfrm>
            <a:off x="8329073" y="1613118"/>
            <a:ext cx="37860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3. TikTok</a:t>
            </a:r>
          </a:p>
          <a:p>
            <a:r>
              <a:rPr lang="en-US" sz="2800"/>
              <a:t>Followers: 87</a:t>
            </a:r>
          </a:p>
          <a:p>
            <a:r>
              <a:rPr lang="en-US" sz="2800"/>
              <a:t>Likes: 573</a:t>
            </a:r>
          </a:p>
          <a:p>
            <a:r>
              <a:rPr lang="en-US" sz="2800"/>
              <a:t>Total Views: 2,138</a:t>
            </a:r>
          </a:p>
          <a:p>
            <a:r>
              <a:rPr lang="en-US" sz="2800"/>
              <a:t>Audience Reached: 1,766</a:t>
            </a:r>
          </a:p>
        </p:txBody>
      </p:sp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0237F475-7E36-243D-C870-433C0054D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" b="19564"/>
          <a:stretch>
            <a:fillRect/>
          </a:stretch>
        </p:blipFill>
        <p:spPr>
          <a:xfrm>
            <a:off x="993752" y="3336826"/>
            <a:ext cx="1400888" cy="3521174"/>
          </a:xfrm>
          <a:prstGeom prst="rect">
            <a:avLst/>
          </a:prstGeom>
        </p:spPr>
      </p:pic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10119B43-A125-E2BF-46CB-1C18C2CE39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0" b="23522"/>
          <a:stretch>
            <a:fillRect/>
          </a:stretch>
        </p:blipFill>
        <p:spPr>
          <a:xfrm>
            <a:off x="4964319" y="3336826"/>
            <a:ext cx="1491069" cy="3521174"/>
          </a:xfrm>
          <a:prstGeom prst="rect">
            <a:avLst/>
          </a:prstGeom>
        </p:spPr>
      </p:pic>
      <p:pic>
        <p:nvPicPr>
          <p:cNvPr id="12" name="Picture 11" descr="A collage of images of a statue&#10;&#10;AI-generated content may be incorrect.">
            <a:extLst>
              <a:ext uri="{FF2B5EF4-FFF2-40B4-BE49-F238E27FC236}">
                <a16:creationId xmlns:a16="http://schemas.microsoft.com/office/drawing/2014/main" id="{6277ACD5-2293-83FB-5848-A69F12AA7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9" b="22097"/>
          <a:stretch>
            <a:fillRect/>
          </a:stretch>
        </p:blipFill>
        <p:spPr>
          <a:xfrm>
            <a:off x="8823626" y="3839882"/>
            <a:ext cx="2241176" cy="301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8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53C340-4FCA-3F19-09D5-DD8C7C84E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FC8C-2B19-48FB-6CA1-59A8DBC6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555" y="560849"/>
            <a:ext cx="9906000" cy="810578"/>
          </a:xfrm>
          <a:noFill/>
        </p:spPr>
        <p:txBody>
          <a:bodyPr/>
          <a:lstStyle/>
          <a:p>
            <a:r>
              <a:rPr lang="en-US" b="1"/>
              <a:t>AD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5DED7-EDCC-9182-9766-080FD0493B94}"/>
              </a:ext>
            </a:extLst>
          </p:cNvPr>
          <p:cNvSpPr txBox="1"/>
          <p:nvPr/>
        </p:nvSpPr>
        <p:spPr>
          <a:xfrm>
            <a:off x="1094555" y="2138384"/>
            <a:ext cx="75115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2800" b="1" dirty="0"/>
              <a:t>Ad Views: 62.8K</a:t>
            </a:r>
            <a:r>
              <a:rPr lang="ar-EG" sz="2800" b="1" dirty="0"/>
              <a:t>         </a:t>
            </a:r>
            <a:r>
              <a:rPr lang="en-US" sz="2800" b="1" dirty="0"/>
              <a:t>Reach: 51K</a:t>
            </a:r>
            <a:endParaRPr lang="ar-EG" sz="2800" b="1" dirty="0"/>
          </a:p>
          <a:p>
            <a:endParaRPr lang="en-US" sz="2800" b="1" dirty="0"/>
          </a:p>
          <a:p>
            <a:r>
              <a:rPr lang="en-US" sz="2800" u="sng" dirty="0"/>
              <a:t>Analysis</a:t>
            </a:r>
            <a:r>
              <a:rPr lang="en-US" sz="2800" dirty="0"/>
              <a:t>:</a:t>
            </a:r>
          </a:p>
          <a:p>
            <a:r>
              <a:rPr lang="en-US" sz="2800" dirty="0"/>
              <a:t>The paid ad had a strong impact on reach and total views.</a:t>
            </a:r>
          </a:p>
          <a:p>
            <a:r>
              <a:rPr lang="en-US" sz="2800" dirty="0"/>
              <a:t>Follower growth rate is excellent for the campaign duration.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1A93D-F433-ADF8-09FA-DABDBC97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784" y="156408"/>
            <a:ext cx="908383" cy="90228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0120BFD4-CE28-4670-75C4-DB375F20C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98" b="26867"/>
          <a:stretch>
            <a:fillRect/>
          </a:stretch>
        </p:blipFill>
        <p:spPr>
          <a:xfrm>
            <a:off x="9051960" y="1637277"/>
            <a:ext cx="2458722" cy="43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59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A307-654F-B1AD-4F9A-8EA50C64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E4E40-450B-31EA-0317-898798528517}"/>
              </a:ext>
            </a:extLst>
          </p:cNvPr>
          <p:cNvSpPr txBox="1"/>
          <p:nvPr/>
        </p:nvSpPr>
        <p:spPr>
          <a:xfrm>
            <a:off x="1993900" y="102137"/>
            <a:ext cx="8360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+mj-lt"/>
              </a:rPr>
              <a:t>THE</a:t>
            </a:r>
            <a:r>
              <a:rPr lang="en-US" sz="8000" b="1" dirty="0"/>
              <a:t> </a:t>
            </a:r>
            <a:r>
              <a:rPr lang="en-US" sz="8000" b="1" dirty="0">
                <a:latin typeface="+mj-lt"/>
              </a:rPr>
              <a:t>TEAM</a:t>
            </a:r>
            <a:r>
              <a:rPr lang="en-US" sz="80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5C02D-CE6B-2D4C-63FF-B6EB650C7E19}"/>
              </a:ext>
            </a:extLst>
          </p:cNvPr>
          <p:cNvSpPr txBox="1"/>
          <p:nvPr/>
        </p:nvSpPr>
        <p:spPr>
          <a:xfrm>
            <a:off x="8987980" y="4581654"/>
            <a:ext cx="1452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E6AC8C-9341-0362-C3E8-719535423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3" y="12551"/>
            <a:ext cx="1041697" cy="1041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82F3C-F3F6-B83E-BC66-BFCB739BCC6B}"/>
              </a:ext>
            </a:extLst>
          </p:cNvPr>
          <p:cNvSpPr txBox="1"/>
          <p:nvPr/>
        </p:nvSpPr>
        <p:spPr>
          <a:xfrm>
            <a:off x="-680524" y="4808955"/>
            <a:ext cx="3884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Noor El Houda</a:t>
            </a:r>
          </a:p>
          <a:p>
            <a:pPr algn="ctr"/>
            <a:r>
              <a:rPr lang="en-US" sz="2800" b="1" dirty="0"/>
              <a:t>BELAL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E74438-5C5A-34E7-130A-7CD30B9F7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637" y="2740761"/>
            <a:ext cx="2045894" cy="1894672"/>
          </a:xfrm>
          <a:prstGeom prst="roundRect">
            <a:avLst>
              <a:gd name="adj" fmla="val 50000"/>
            </a:avLst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83E029-912F-E08E-53F2-04476A76C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92574" y="1352844"/>
            <a:ext cx="2067328" cy="1935098"/>
          </a:xfrm>
          <a:prstGeom prst="roundRect">
            <a:avLst>
              <a:gd name="adj" fmla="val 50000"/>
            </a:avLst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6AD649-12E3-924F-1802-4CC5A7C0F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83" y="2740761"/>
            <a:ext cx="2021108" cy="1894672"/>
          </a:xfrm>
          <a:prstGeom prst="roundRect">
            <a:avLst>
              <a:gd name="adj" fmla="val 50000"/>
            </a:avLst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7FBA41-3F94-AB0C-3ECF-9CD8F3CBB5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608" y="1371728"/>
            <a:ext cx="2067327" cy="1973432"/>
          </a:xfrm>
          <a:prstGeom prst="roundRect">
            <a:avLst>
              <a:gd name="adj" fmla="val 50000"/>
            </a:avLst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30A92D8-F384-FFE3-75E0-8CF6CED438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7" r="12244"/>
          <a:stretch>
            <a:fillRect/>
          </a:stretch>
        </p:blipFill>
        <p:spPr>
          <a:xfrm>
            <a:off x="9799279" y="2740761"/>
            <a:ext cx="2042436" cy="1973433"/>
          </a:xfrm>
          <a:prstGeom prst="roundRect">
            <a:avLst>
              <a:gd name="adj" fmla="val 50000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E8607B-2C1F-E378-8618-11BAA6343ADA}"/>
              </a:ext>
            </a:extLst>
          </p:cNvPr>
          <p:cNvSpPr txBox="1"/>
          <p:nvPr/>
        </p:nvSpPr>
        <p:spPr>
          <a:xfrm>
            <a:off x="3024338" y="6287192"/>
            <a:ext cx="6129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Bahnschrift SemiBold" panose="020B0502040204020203" pitchFamily="34" charset="0"/>
              </a:rPr>
              <a:t>OUR MENTOR AND INSTRACTOR : YOUSEEF ABDEL SABOUR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C3B16-D0AF-B4B8-994E-EAA0DBF06E3E}"/>
              </a:ext>
            </a:extLst>
          </p:cNvPr>
          <p:cNvSpPr txBox="1"/>
          <p:nvPr/>
        </p:nvSpPr>
        <p:spPr>
          <a:xfrm>
            <a:off x="2492574" y="3567451"/>
            <a:ext cx="2067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NOUR ALLAH</a:t>
            </a:r>
          </a:p>
          <a:p>
            <a:pPr algn="ctr"/>
            <a:r>
              <a:rPr lang="en-US" sz="2800" b="1" dirty="0"/>
              <a:t>AHMED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F076D-B916-A37D-0A6D-10B09667591E}"/>
              </a:ext>
            </a:extLst>
          </p:cNvPr>
          <p:cNvSpPr txBox="1"/>
          <p:nvPr/>
        </p:nvSpPr>
        <p:spPr>
          <a:xfrm>
            <a:off x="5073869" y="4830482"/>
            <a:ext cx="22260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MENNA HUSSIEN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4B0E8-9EE0-CBD1-D9E4-40866CE8D828}"/>
              </a:ext>
            </a:extLst>
          </p:cNvPr>
          <p:cNvSpPr txBox="1"/>
          <p:nvPr/>
        </p:nvSpPr>
        <p:spPr>
          <a:xfrm>
            <a:off x="9919698" y="4876731"/>
            <a:ext cx="1835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MOHRAIL ATYIA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F18F4-136C-9EFD-A957-750589C3C937}"/>
              </a:ext>
            </a:extLst>
          </p:cNvPr>
          <p:cNvSpPr txBox="1"/>
          <p:nvPr/>
        </p:nvSpPr>
        <p:spPr>
          <a:xfrm>
            <a:off x="7686961" y="3540209"/>
            <a:ext cx="1848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TOQA HUSSIEN</a:t>
            </a:r>
          </a:p>
        </p:txBody>
      </p:sp>
    </p:spTree>
    <p:extLst>
      <p:ext uri="{BB962C8B-B14F-4D97-AF65-F5344CB8AC3E}">
        <p14:creationId xmlns:p14="http://schemas.microsoft.com/office/powerpoint/2010/main" val="772652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3" b="6133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957" y="3998259"/>
            <a:ext cx="6870020" cy="1015999"/>
          </a:xfrm>
          <a:noFill/>
        </p:spPr>
        <p:txBody>
          <a:bodyPr anchor="b"/>
          <a:lstStyle/>
          <a:p>
            <a:r>
              <a:rPr lang="en-US" sz="5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863</Words>
  <Application>Microsoft Office PowerPoint</Application>
  <PresentationFormat>Widescreen</PresentationFormat>
  <Paragraphs>170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Bahnschrift SemiBold</vt:lpstr>
      <vt:lpstr>Calibri</vt:lpstr>
      <vt:lpstr>Univers Condensed Light</vt:lpstr>
      <vt:lpstr>Walbaum Display Light</vt:lpstr>
      <vt:lpstr>AngleLinesVTI</vt:lpstr>
      <vt:lpstr>PowerPoint Presentation</vt:lpstr>
      <vt:lpstr>Project proposition </vt:lpstr>
      <vt:lpstr>PowerPoint Presentation</vt:lpstr>
      <vt:lpstr>PowerPoint Presentation</vt:lpstr>
      <vt:lpstr>PowerPoint Presentation</vt:lpstr>
      <vt:lpstr>STEP 1 :  Research &amp; Planning Phase</vt:lpstr>
      <vt:lpstr>PowerPoint Presentation</vt:lpstr>
      <vt:lpstr>Content Plan</vt:lpstr>
      <vt:lpstr>PowerPoint Presentation</vt:lpstr>
      <vt:lpstr>SURVEY</vt:lpstr>
      <vt:lpstr>PowerPoint Presentation</vt:lpstr>
      <vt:lpstr>SOCIAL MEDIA PERFORMANCE</vt:lpstr>
      <vt:lpstr>AD PERFORMANCE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Nour Allah Ahmed</dc:creator>
  <cp:lastModifiedBy>Nour Allah Ahmed</cp:lastModifiedBy>
  <cp:revision>5</cp:revision>
  <dcterms:created xsi:type="dcterms:W3CDTF">2025-11-25T17:17:01Z</dcterms:created>
  <dcterms:modified xsi:type="dcterms:W3CDTF">2025-12-13T21:49:23Z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